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B1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C9A9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4114800"/>
          </a:xfrm>
          <a:prstGeom prst="rect">
            <a:avLst/>
          </a:prstGeom>
          <a:noFill/>
        </p:spPr>
        <p:txBody>
          <a:bodyPr wrap="square">
            <a:spAutoFit/>
          </a:bodyPr>
          <a:lstStyle/>
          <a:p>
            <a:pPr algn="ctr"/>
            <a:r>
              <a:rPr sz="1800">
                <a:solidFill>
                  <a:srgbClr val="DFCA9B"/>
                </a:solidFill>
                <a:latin typeface="Cairo"/>
              </a:rPr>
              <a:t>جمعية طبيبي الأهلية بالمدينة المنورة
</a:t>
            </a:r>
          </a:p>
          <a:p>
            <a:pPr algn="ctr"/>
            <a:r>
              <a:rPr sz="3600" b="1">
                <a:solidFill>
                  <a:srgbClr val="FFFFFF"/>
                </a:solidFill>
                <a:latin typeface="Cairo"/>
              </a:rPr>
              <a:t>التقرير النصف سنوي الشامل لعام ٢٠٢٦م
</a:t>
            </a:r>
          </a:p>
          <a:p>
            <a:pPr algn="ctr"/>
            <a:r>
              <a:rPr sz="1600">
                <a:solidFill>
                  <a:srgbClr val="C9A96E"/>
                </a:solidFill>
                <a:latin typeface="Cairo"/>
              </a:rPr>
              <a:t>الفترة من ١ يناير إلى ٣٠ يونيو ٢٠٢٦م
</a:t>
            </a:r>
          </a:p>
          <a:p>
            <a:pPr algn="ctr"/>
            <a:r>
              <a:rPr sz="2200" b="1">
                <a:solidFill>
                  <a:srgbClr val="DFCA9B"/>
                </a:solidFill>
                <a:latin typeface="Cairo"/>
              </a:rPr>
              <a:t>« ثـقـة  •  أثــر  •  اسـتـدامـة »
</a:t>
            </a:r>
          </a:p>
        </p:txBody>
      </p:sp>
      <p:sp>
        <p:nvSpPr>
          <p:cNvPr id="4" name="TextBox 3"/>
          <p:cNvSpPr txBox="1"/>
          <p:nvPr/>
        </p:nvSpPr>
        <p:spPr>
          <a:xfrm>
            <a:off x="914400" y="5486400"/>
            <a:ext cx="10362895" cy="914400"/>
          </a:xfrm>
          <a:prstGeom prst="rect">
            <a:avLst/>
          </a:prstGeom>
          <a:noFill/>
        </p:spPr>
        <p:txBody>
          <a:bodyPr wrap="none">
            <a:spAutoFit/>
          </a:bodyPr>
          <a:lstStyle/>
          <a:p>
            <a:pPr algn="ctr"/>
            <a:r>
              <a:rPr sz="1100">
                <a:solidFill>
                  <a:srgbClr val="C8C8C8"/>
                </a:solidFill>
                <a:latin typeface="Cairo"/>
              </a:rPr>
              <a:t>ترخيص المركز الوطني لتنمية القطاع غير الربحي رقم: ١٠٠٠٧٣٠٧٠٠ | إشراف: أ. بيان بن سعد المحمدي - المدير التنفيذي</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الرؤية والتمكين</a:t>
            </a:r>
          </a:p>
          <a:p>
            <a:pPr algn="r"/>
            <a:r>
              <a:rPr sz="2200" b="1">
                <a:solidFill>
                  <a:srgbClr val="6B1D3A"/>
                </a:solidFill>
                <a:latin typeface="Cairo"/>
              </a:rPr>
              <a:t>القيادة الرشيدة والرؤية الوطنية</a:t>
            </a:r>
          </a:p>
        </p:txBody>
      </p:sp>
      <p:sp>
        <p:nvSpPr>
          <p:cNvPr id="3" name="Rounded Rectangle 2"/>
          <p:cNvSpPr/>
          <p:nvPr/>
        </p:nvSpPr>
        <p:spPr>
          <a:xfrm>
            <a:off x="731520" y="1645920"/>
            <a:ext cx="3474720" cy="4572000"/>
          </a:xfrm>
          <a:prstGeom prst="roundRect">
            <a:avLst/>
          </a:prstGeom>
          <a:solidFill>
            <a:srgbClr val="2E0B17"/>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3108960" cy="4114800"/>
          </a:xfrm>
          <a:prstGeom prst="rect">
            <a:avLst/>
          </a:prstGeom>
          <a:noFill/>
        </p:spPr>
        <p:txBody>
          <a:bodyPr wrap="square">
            <a:spAutoFit/>
          </a:bodyPr>
          <a:lstStyle/>
          <a:p>
            <a:pPr algn="ctr"/>
            <a:r>
              <a:rPr sz="1300" b="1">
                <a:solidFill>
                  <a:srgbClr val="C9A96E"/>
                </a:solidFill>
                <a:latin typeface="Cairo"/>
              </a:rPr>
              <a:t>خادم الحرمين الشريفين
الملك سلمان بن عبدالعزيز آل سعود
</a:t>
            </a:r>
          </a:p>
          <a:p>
            <a:pPr algn="r"/>
            <a:r>
              <a:rPr sz="1100" i="1">
                <a:solidFill>
                  <a:srgbClr val="FFFFFF"/>
                </a:solidFill>
                <a:latin typeface="Cairo"/>
              </a:rPr>
              <a:t>«ما يميز هذه البلاد هو حرص قادتها على الخير والتشجيع عليه، وما نراه من مؤسسات خيرية في مختلف المجالات… إلا جانبًا من الجوانب المشرقة لبلادنا.»</a:t>
            </a:r>
          </a:p>
        </p:txBody>
      </p:sp>
      <p:sp>
        <p:nvSpPr>
          <p:cNvPr id="5" name="Rounded Rectangle 4"/>
          <p:cNvSpPr/>
          <p:nvPr/>
        </p:nvSpPr>
        <p:spPr>
          <a:xfrm>
            <a:off x="4343400" y="1645920"/>
            <a:ext cx="3474720" cy="4572000"/>
          </a:xfrm>
          <a:prstGeom prst="roundRect">
            <a:avLst/>
          </a:prstGeom>
          <a:solidFill>
            <a:srgbClr val="2E0B17"/>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828800"/>
            <a:ext cx="3108960" cy="4114800"/>
          </a:xfrm>
          <a:prstGeom prst="rect">
            <a:avLst/>
          </a:prstGeom>
          <a:noFill/>
        </p:spPr>
        <p:txBody>
          <a:bodyPr wrap="square">
            <a:spAutoFit/>
          </a:bodyPr>
          <a:lstStyle/>
          <a:p>
            <a:pPr algn="ctr"/>
            <a:r>
              <a:rPr sz="1300" b="1">
                <a:solidFill>
                  <a:srgbClr val="C9A96E"/>
                </a:solidFill>
                <a:latin typeface="Cairo"/>
              </a:rPr>
              <a:t>صاحب السمو الملكي
الأمير محمد بن سلمان بن عبدالعزيز
</a:t>
            </a:r>
          </a:p>
          <a:p>
            <a:pPr algn="r"/>
            <a:r>
              <a:rPr sz="1100" i="1">
                <a:solidFill>
                  <a:srgbClr val="FFFFFF"/>
                </a:solidFill>
                <a:latin typeface="Cairo"/>
              </a:rPr>
              <a:t>«نهدف للوصول إلى قطاع غير ربحي مهم، مبادر وداعم ومؤثر في التعليم والصحة والثقافة والمجالات البحثية، وسنعتمد عليه بشكل رئيسي.»</a:t>
            </a:r>
          </a:p>
        </p:txBody>
      </p:sp>
      <p:sp>
        <p:nvSpPr>
          <p:cNvPr id="7" name="Rounded Rectangle 6"/>
          <p:cNvSpPr/>
          <p:nvPr/>
        </p:nvSpPr>
        <p:spPr>
          <a:xfrm>
            <a:off x="7955280" y="1645920"/>
            <a:ext cx="3474720" cy="4572000"/>
          </a:xfrm>
          <a:prstGeom prst="roundRect">
            <a:avLst/>
          </a:prstGeom>
          <a:solidFill>
            <a:srgbClr val="2E0B17"/>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828800"/>
            <a:ext cx="3108960" cy="4114800"/>
          </a:xfrm>
          <a:prstGeom prst="rect">
            <a:avLst/>
          </a:prstGeom>
          <a:noFill/>
        </p:spPr>
        <p:txBody>
          <a:bodyPr wrap="square">
            <a:spAutoFit/>
          </a:bodyPr>
          <a:lstStyle/>
          <a:p>
            <a:pPr algn="ctr"/>
            <a:r>
              <a:rPr sz="1300" b="1">
                <a:solidFill>
                  <a:srgbClr val="C9A96E"/>
                </a:solidFill>
                <a:latin typeface="Cairo"/>
              </a:rPr>
              <a:t>صاحب السمو الملكي
الأمير سلمان بن سلطان بن عبدالعزيز
</a:t>
            </a:r>
          </a:p>
          <a:p>
            <a:pPr algn="r"/>
            <a:r>
              <a:rPr sz="1100" i="1">
                <a:solidFill>
                  <a:srgbClr val="FFFFFF"/>
                </a:solidFill>
                <a:latin typeface="Cairo"/>
              </a:rPr>
              <a:t>«نسعد بالإنجازات التي حققتها الجمعيات الأهلية على مستوى المنطقة باعتبارها شريكًا استراتيجيًا للقطاعين العام والخاص في تحسين جودة الحياة وتعزيز الاستقرار.»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القيادة المؤسسية</a:t>
            </a:r>
          </a:p>
          <a:p>
            <a:pPr algn="r"/>
            <a:r>
              <a:rPr sz="2200" b="1">
                <a:solidFill>
                  <a:srgbClr val="6B1D3A"/>
                </a:solidFill>
                <a:latin typeface="Cairo"/>
              </a:rPr>
              <a:t>كلمة رئيس مجلس الإدارة والملخص التنفيذي</a:t>
            </a:r>
          </a:p>
        </p:txBody>
      </p:sp>
      <p:sp>
        <p:nvSpPr>
          <p:cNvPr id="3" name="Rounded Rectangle 2"/>
          <p:cNvSpPr/>
          <p:nvPr/>
        </p:nvSpPr>
        <p:spPr>
          <a:xfrm>
            <a:off x="731520" y="1645920"/>
            <a:ext cx="6858000" cy="4572000"/>
          </a:xfrm>
          <a:prstGeom prst="roundRect">
            <a:avLst/>
          </a:prstGeom>
          <a:solidFill>
            <a:srgbClr val="FFFFFF"/>
          </a:solidFill>
          <a:ln w="19050">
            <a:solidFill>
              <a:srgbClr val="E6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114800"/>
          </a:xfrm>
          <a:prstGeom prst="rect">
            <a:avLst/>
          </a:prstGeom>
          <a:noFill/>
        </p:spPr>
        <p:txBody>
          <a:bodyPr wrap="square">
            <a:spAutoFit/>
          </a:bodyPr>
          <a:lstStyle/>
          <a:p>
            <a:pPr algn="r"/>
            <a:r>
              <a:rPr sz="1200">
                <a:solidFill>
                  <a:srgbClr val="242220"/>
                </a:solidFill>
                <a:latin typeface="Cairo"/>
              </a:rPr>
              <a:t>يسرني أن أضع بين أيديكم التقرير النصف سنوي لجمعية طبيبي الأهلية، والذي يعكس ما تحقق خلال النصف الأول من عام ٢٠٢٦م من نمو مالي وتشغيلي، وتطور في البنية المؤسسية والحوكمة، وتوسع في الخدمات المقدمة للمستفيدين المرضى في طيبة الطيبة.
وما تحقق من إنجازات - بعد توفيق الله - هو ثمرة تكامل جهود مجلس الإدارة والجمعية العمومية والإدارة التنفيذية والعاملين والمتطوعين، ودعم الشركاء والمانحين الأفاضل الذين نعتز بثقتهم وإسهامهم.
أ.د. منصور محمد النزهة - رئيس مجلس الإدارة</a:t>
            </a:r>
          </a:p>
        </p:txBody>
      </p:sp>
      <p:sp>
        <p:nvSpPr>
          <p:cNvPr id="5" name="Rounded Rectangle 4"/>
          <p:cNvSpPr/>
          <p:nvPr/>
        </p:nvSpPr>
        <p:spPr>
          <a:xfrm>
            <a:off x="7863840" y="1645920"/>
            <a:ext cx="3566160" cy="4572000"/>
          </a:xfrm>
          <a:prstGeom prst="roundRect">
            <a:avLst/>
          </a:prstGeom>
          <a:solidFill>
            <a:srgbClr val="6B1D3A"/>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828800"/>
            <a:ext cx="3200400" cy="4114800"/>
          </a:xfrm>
          <a:prstGeom prst="rect">
            <a:avLst/>
          </a:prstGeom>
          <a:noFill/>
        </p:spPr>
        <p:txBody>
          <a:bodyPr wrap="square">
            <a:spAutoFit/>
          </a:bodyPr>
          <a:lstStyle/>
          <a:p>
            <a:pPr algn="r"/>
            <a:r>
              <a:rPr sz="1400" b="1">
                <a:solidFill>
                  <a:srgbClr val="C9A96E"/>
                </a:solidFill>
                <a:latin typeface="Cairo"/>
              </a:rPr>
              <a:t>أبرز أرقام النصف الأول:
</a:t>
            </a:r>
          </a:p>
          <a:p>
            <a:pPr algn="r"/>
            <a:r>
              <a:rPr sz="1100">
                <a:solidFill>
                  <a:srgbClr val="FFFFFF"/>
                </a:solidFill>
                <a:latin typeface="Cairo"/>
              </a:rPr>
              <a:t>• إيرادات محققة: ٥٨٢,١٦٧ ريال (+١٩٢٪)
</a:t>
            </a:r>
          </a:p>
          <a:p>
            <a:pPr algn="r"/>
            <a:r>
              <a:rPr sz="1100">
                <a:solidFill>
                  <a:srgbClr val="FFFFFF"/>
                </a:solidFill>
                <a:latin typeface="Cairo"/>
              </a:rPr>
              <a:t>• مساعدات علاجية: ٢٠٨,٦٠٥ ريال (+٩٤٣٪)
</a:t>
            </a:r>
          </a:p>
          <a:p>
            <a:pPr algn="r"/>
            <a:r>
              <a:rPr sz="1100">
                <a:solidFill>
                  <a:srgbClr val="FFFFFF"/>
                </a:solidFill>
                <a:latin typeface="Cairo"/>
              </a:rPr>
              <a:t>• ٧ حالات حرجة تم دعمها بنجاح ١٠٠٪
</a:t>
            </a:r>
          </a:p>
          <a:p>
            <a:pPr algn="r"/>
            <a:r>
              <a:rPr sz="1100">
                <a:solidFill>
                  <a:srgbClr val="FFFFFF"/>
                </a:solidFill>
                <a:latin typeface="Cairo"/>
              </a:rPr>
              <a:t>• ٩ شراكات صحية استراتيجية مفعّلة
</a:t>
            </a:r>
          </a:p>
          <a:p>
            <a:pPr algn="r"/>
            <a:r>
              <a:rPr sz="1100">
                <a:solidFill>
                  <a:srgbClr val="FFFFFF"/>
                </a:solidFill>
                <a:latin typeface="Cairo"/>
              </a:rPr>
              <a:t>• نسبة التوطين بالكادر: ١٠٠٪
</a:t>
            </a:r>
          </a:p>
          <a:p>
            <a:pPr algn="r"/>
            <a:r>
              <a:rPr sz="1100">
                <a:solidFill>
                  <a:srgbClr val="FFFFFF"/>
                </a:solidFill>
                <a:latin typeface="Cairo"/>
              </a:rPr>
              <a:t>• سيولة وأرصدة بنكية: ١,٠٠١,٧٥٤ ريال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مصفوفة القياس التراكمي</a:t>
            </a:r>
          </a:p>
          <a:p>
            <a:pPr algn="r"/>
            <a:r>
              <a:rPr sz="2200" b="1">
                <a:solidFill>
                  <a:srgbClr val="6B1D3A"/>
                </a:solidFill>
                <a:latin typeface="Cairo"/>
              </a:rPr>
              <a:t>لوحة مؤشرات الأداء الرئيسية (Master KPIs)</a:t>
            </a:r>
          </a:p>
        </p:txBody>
      </p:sp>
      <p:sp>
        <p:nvSpPr>
          <p:cNvPr id="3" name="Rounded Rectangle 2"/>
          <p:cNvSpPr/>
          <p:nvPr/>
        </p:nvSpPr>
        <p:spPr>
          <a:xfrm>
            <a:off x="731520" y="1645920"/>
            <a:ext cx="256032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783080"/>
            <a:ext cx="2286000" cy="1828800"/>
          </a:xfrm>
          <a:prstGeom prst="rect">
            <a:avLst/>
          </a:prstGeom>
          <a:noFill/>
        </p:spPr>
        <p:txBody>
          <a:bodyPr wrap="square">
            <a:spAutoFit/>
          </a:bodyPr>
          <a:lstStyle/>
          <a:p>
            <a:pPr algn="r"/>
            <a:r>
              <a:rPr sz="1100" b="1">
                <a:solidFill>
                  <a:srgbClr val="6B6864"/>
                </a:solidFill>
                <a:latin typeface="Cairo"/>
              </a:rPr>
              <a:t>نمو الإيرادات</a:t>
            </a:r>
          </a:p>
          <a:p>
            <a:pPr algn="r"/>
            <a:r>
              <a:rPr sz="2200" b="1">
                <a:solidFill>
                  <a:srgbClr val="1E824C"/>
                </a:solidFill>
                <a:latin typeface="Cairo"/>
              </a:rPr>
              <a:t>+١٩٢٪</a:t>
            </a:r>
          </a:p>
          <a:p>
            <a:pPr algn="r"/>
            <a:r>
              <a:rPr sz="950">
                <a:solidFill>
                  <a:srgbClr val="242220"/>
                </a:solidFill>
                <a:latin typeface="Cairo"/>
              </a:rPr>
              <a:t>٥٨٢,١٦٧ ريال مقارنة بـ ١٩٩ ألف في ٢٠٢٥</a:t>
            </a:r>
          </a:p>
        </p:txBody>
      </p:sp>
      <p:sp>
        <p:nvSpPr>
          <p:cNvPr id="5" name="Rounded Rectangle 4"/>
          <p:cNvSpPr/>
          <p:nvPr/>
        </p:nvSpPr>
        <p:spPr>
          <a:xfrm>
            <a:off x="3429000" y="1645920"/>
            <a:ext cx="256032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66160" y="1783080"/>
            <a:ext cx="2286000" cy="1828800"/>
          </a:xfrm>
          <a:prstGeom prst="rect">
            <a:avLst/>
          </a:prstGeom>
          <a:noFill/>
        </p:spPr>
        <p:txBody>
          <a:bodyPr wrap="square">
            <a:spAutoFit/>
          </a:bodyPr>
          <a:lstStyle/>
          <a:p>
            <a:pPr algn="r"/>
            <a:r>
              <a:rPr sz="1100" b="1">
                <a:solidFill>
                  <a:srgbClr val="6B6864"/>
                </a:solidFill>
                <a:latin typeface="Cairo"/>
              </a:rPr>
              <a:t>المساعدات الطبية</a:t>
            </a:r>
          </a:p>
          <a:p>
            <a:pPr algn="r"/>
            <a:r>
              <a:rPr sz="2200" b="1">
                <a:solidFill>
                  <a:srgbClr val="1E824C"/>
                </a:solidFill>
                <a:latin typeface="Cairo"/>
              </a:rPr>
              <a:t>+٩٤٣٪</a:t>
            </a:r>
          </a:p>
          <a:p>
            <a:pPr algn="r"/>
            <a:r>
              <a:rPr sz="950">
                <a:solidFill>
                  <a:srgbClr val="242220"/>
                </a:solidFill>
                <a:latin typeface="Cairo"/>
              </a:rPr>
              <a:t>٢٠٨,٦٠٥ ريال لـ ٧ حالات حرجة</a:t>
            </a:r>
          </a:p>
        </p:txBody>
      </p:sp>
      <p:sp>
        <p:nvSpPr>
          <p:cNvPr id="7" name="Rounded Rectangle 6"/>
          <p:cNvSpPr/>
          <p:nvPr/>
        </p:nvSpPr>
        <p:spPr>
          <a:xfrm>
            <a:off x="6126480" y="1645920"/>
            <a:ext cx="256032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63640" y="1783080"/>
            <a:ext cx="2286000" cy="1828800"/>
          </a:xfrm>
          <a:prstGeom prst="rect">
            <a:avLst/>
          </a:prstGeom>
          <a:noFill/>
        </p:spPr>
        <p:txBody>
          <a:bodyPr wrap="square">
            <a:spAutoFit/>
          </a:bodyPr>
          <a:lstStyle/>
          <a:p>
            <a:pPr algn="r"/>
            <a:r>
              <a:rPr sz="1100" b="1">
                <a:solidFill>
                  <a:srgbClr val="6B6864"/>
                </a:solidFill>
                <a:latin typeface="Cairo"/>
              </a:rPr>
              <a:t>تنفيذ الموازنة</a:t>
            </a:r>
          </a:p>
          <a:p>
            <a:pPr algn="r"/>
            <a:r>
              <a:rPr sz="2200" b="1">
                <a:solidFill>
                  <a:srgbClr val="D9822B"/>
                </a:solidFill>
                <a:latin typeface="Cairo"/>
              </a:rPr>
              <a:t>٣٥.٥٧٪</a:t>
            </a:r>
          </a:p>
          <a:p>
            <a:pPr algn="r"/>
            <a:r>
              <a:rPr sz="950">
                <a:solidFill>
                  <a:srgbClr val="242220"/>
                </a:solidFill>
                <a:latin typeface="Cairo"/>
              </a:rPr>
              <a:t>١,٠٦٠,٦٦٦ من ٢,٩٨١,٧٥٠ ريال معتمد</a:t>
            </a:r>
          </a:p>
        </p:txBody>
      </p:sp>
      <p:sp>
        <p:nvSpPr>
          <p:cNvPr id="9" name="Rounded Rectangle 8"/>
          <p:cNvSpPr/>
          <p:nvPr/>
        </p:nvSpPr>
        <p:spPr>
          <a:xfrm>
            <a:off x="8823960" y="1645920"/>
            <a:ext cx="256032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0" y="1783080"/>
            <a:ext cx="2286000" cy="1828800"/>
          </a:xfrm>
          <a:prstGeom prst="rect">
            <a:avLst/>
          </a:prstGeom>
          <a:noFill/>
        </p:spPr>
        <p:txBody>
          <a:bodyPr wrap="square">
            <a:spAutoFit/>
          </a:bodyPr>
          <a:lstStyle/>
          <a:p>
            <a:pPr algn="r"/>
            <a:r>
              <a:rPr sz="1100" b="1">
                <a:solidFill>
                  <a:srgbClr val="6B6864"/>
                </a:solidFill>
                <a:latin typeface="Cairo"/>
              </a:rPr>
              <a:t>الاحتياطي النقدي</a:t>
            </a:r>
          </a:p>
          <a:p>
            <a:pPr algn="r"/>
            <a:r>
              <a:rPr sz="2200" b="1">
                <a:solidFill>
                  <a:srgbClr val="1E824C"/>
                </a:solidFill>
                <a:latin typeface="Cairo"/>
              </a:rPr>
              <a:t>١٢ شهراً</a:t>
            </a:r>
          </a:p>
          <a:p>
            <a:pPr algn="r"/>
            <a:r>
              <a:rPr sz="950">
                <a:solidFill>
                  <a:srgbClr val="242220"/>
                </a:solidFill>
                <a:latin typeface="Cairo"/>
              </a:rPr>
              <a:t>أرصدة ١,٠٠١,٧٥٤ ريال تغطي النفقات التشغيلية</a:t>
            </a:r>
          </a:p>
        </p:txBody>
      </p:sp>
      <p:sp>
        <p:nvSpPr>
          <p:cNvPr id="11" name="Rounded Rectangle 10"/>
          <p:cNvSpPr/>
          <p:nvPr/>
        </p:nvSpPr>
        <p:spPr>
          <a:xfrm>
            <a:off x="731520" y="3931920"/>
            <a:ext cx="256032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069080"/>
            <a:ext cx="2286000" cy="1828800"/>
          </a:xfrm>
          <a:prstGeom prst="rect">
            <a:avLst/>
          </a:prstGeom>
          <a:noFill/>
        </p:spPr>
        <p:txBody>
          <a:bodyPr wrap="square">
            <a:spAutoFit/>
          </a:bodyPr>
          <a:lstStyle/>
          <a:p>
            <a:pPr algn="r"/>
            <a:r>
              <a:rPr sz="1100" b="1">
                <a:solidFill>
                  <a:srgbClr val="6B6864"/>
                </a:solidFill>
                <a:latin typeface="Cairo"/>
              </a:rPr>
              <a:t>نسبة التوطين</a:t>
            </a:r>
          </a:p>
          <a:p>
            <a:pPr algn="r"/>
            <a:r>
              <a:rPr sz="2200" b="1">
                <a:solidFill>
                  <a:srgbClr val="1E824C"/>
                </a:solidFill>
                <a:latin typeface="Cairo"/>
              </a:rPr>
              <a:t>١٠٠٪</a:t>
            </a:r>
          </a:p>
          <a:p>
            <a:pPr algn="r"/>
            <a:r>
              <a:rPr sz="950">
                <a:solidFill>
                  <a:srgbClr val="242220"/>
                </a:solidFill>
                <a:latin typeface="Cairo"/>
              </a:rPr>
              <a:t>٣ موظفين رسميين + محاسب متعاون</a:t>
            </a:r>
          </a:p>
        </p:txBody>
      </p:sp>
      <p:sp>
        <p:nvSpPr>
          <p:cNvPr id="13" name="Rounded Rectangle 12"/>
          <p:cNvSpPr/>
          <p:nvPr/>
        </p:nvSpPr>
        <p:spPr>
          <a:xfrm>
            <a:off x="3429000" y="3931920"/>
            <a:ext cx="256032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4069080"/>
            <a:ext cx="2286000" cy="1828800"/>
          </a:xfrm>
          <a:prstGeom prst="rect">
            <a:avLst/>
          </a:prstGeom>
          <a:noFill/>
        </p:spPr>
        <p:txBody>
          <a:bodyPr wrap="square">
            <a:spAutoFit/>
          </a:bodyPr>
          <a:lstStyle/>
          <a:p>
            <a:pPr algn="r"/>
            <a:r>
              <a:rPr sz="1100" b="1">
                <a:solidFill>
                  <a:srgbClr val="6B6864"/>
                </a:solidFill>
                <a:latin typeface="Cairo"/>
              </a:rPr>
              <a:t>معدل قبول الحالات</a:t>
            </a:r>
          </a:p>
          <a:p>
            <a:pPr algn="r"/>
            <a:r>
              <a:rPr sz="2200" b="1">
                <a:solidFill>
                  <a:srgbClr val="D9822B"/>
                </a:solidFill>
                <a:latin typeface="Cairo"/>
              </a:rPr>
              <a:t>٣٣.٣٪</a:t>
            </a:r>
          </a:p>
          <a:p>
            <a:pPr algn="r"/>
            <a:r>
              <a:rPr sz="950">
                <a:solidFill>
                  <a:srgbClr val="242220"/>
                </a:solidFill>
                <a:latin typeface="Cairo"/>
              </a:rPr>
              <a:t>٧ حالات مقبولة من أصل ٢١ متقدمة</a:t>
            </a:r>
          </a:p>
        </p:txBody>
      </p:sp>
      <p:sp>
        <p:nvSpPr>
          <p:cNvPr id="15" name="Rounded Rectangle 14"/>
          <p:cNvSpPr/>
          <p:nvPr/>
        </p:nvSpPr>
        <p:spPr>
          <a:xfrm>
            <a:off x="6126480" y="3931920"/>
            <a:ext cx="256032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4069080"/>
            <a:ext cx="2286000" cy="1828800"/>
          </a:xfrm>
          <a:prstGeom prst="rect">
            <a:avLst/>
          </a:prstGeom>
          <a:noFill/>
        </p:spPr>
        <p:txBody>
          <a:bodyPr wrap="square">
            <a:spAutoFit/>
          </a:bodyPr>
          <a:lstStyle/>
          <a:p>
            <a:pPr algn="r"/>
            <a:r>
              <a:rPr sz="1100" b="1">
                <a:solidFill>
                  <a:srgbClr val="6B6864"/>
                </a:solidFill>
                <a:latin typeface="Cairo"/>
              </a:rPr>
              <a:t>متوسط كلفة المريض</a:t>
            </a:r>
          </a:p>
          <a:p>
            <a:pPr algn="r"/>
            <a:r>
              <a:rPr sz="2200" b="1">
                <a:solidFill>
                  <a:srgbClr val="6B1D3A"/>
                </a:solidFill>
                <a:latin typeface="Cairo"/>
              </a:rPr>
              <a:t>٢٩,٨٠١ ر.س</a:t>
            </a:r>
          </a:p>
          <a:p>
            <a:pPr algn="r"/>
            <a:r>
              <a:rPr sz="950">
                <a:solidFill>
                  <a:srgbClr val="242220"/>
                </a:solidFill>
                <a:latin typeface="Cairo"/>
              </a:rPr>
              <a:t>تغطية عمليات أورام وسرطان متقدمة</a:t>
            </a:r>
          </a:p>
        </p:txBody>
      </p:sp>
      <p:sp>
        <p:nvSpPr>
          <p:cNvPr id="17" name="Rounded Rectangle 16"/>
          <p:cNvSpPr/>
          <p:nvPr/>
        </p:nvSpPr>
        <p:spPr>
          <a:xfrm>
            <a:off x="8823960" y="3931920"/>
            <a:ext cx="256032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4069080"/>
            <a:ext cx="2286000" cy="1828800"/>
          </a:xfrm>
          <a:prstGeom prst="rect">
            <a:avLst/>
          </a:prstGeom>
          <a:noFill/>
        </p:spPr>
        <p:txBody>
          <a:bodyPr wrap="square">
            <a:spAutoFit/>
          </a:bodyPr>
          <a:lstStyle/>
          <a:p>
            <a:pPr algn="r"/>
            <a:r>
              <a:rPr sz="1100" b="1">
                <a:solidFill>
                  <a:srgbClr val="6B6864"/>
                </a:solidFill>
                <a:latin typeface="Cairo"/>
              </a:rPr>
              <a:t>نسبة تحسن الحالات</a:t>
            </a:r>
          </a:p>
          <a:p>
            <a:pPr algn="r"/>
            <a:r>
              <a:rPr sz="2200" b="1">
                <a:solidFill>
                  <a:srgbClr val="1E824C"/>
                </a:solidFill>
                <a:latin typeface="Cairo"/>
              </a:rPr>
              <a:t>١٠٠٪</a:t>
            </a:r>
          </a:p>
          <a:p>
            <a:pPr algn="r"/>
            <a:r>
              <a:rPr sz="950">
                <a:solidFill>
                  <a:srgbClr val="242220"/>
                </a:solidFill>
                <a:latin typeface="Cairo"/>
              </a:rPr>
              <a:t>تحسن كامل لكافة المرضى المدعومين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الأداء المالي</a:t>
            </a:r>
          </a:p>
          <a:p>
            <a:pPr algn="r"/>
            <a:r>
              <a:rPr sz="2200" b="1">
                <a:solidFill>
                  <a:srgbClr val="6B1D3A"/>
                </a:solidFill>
                <a:latin typeface="Cairo"/>
              </a:rPr>
              <a:t>مقارنة الإيرادات ومصادر الدخل (H1 2026 vs H1 2025)</a:t>
            </a:r>
          </a:p>
        </p:txBody>
      </p:sp>
      <p:graphicFrame>
        <p:nvGraphicFramePr>
          <p:cNvPr id="3" name="Table 2"/>
          <p:cNvGraphicFramePr>
            <a:graphicFrameLocks noGrp="1"/>
          </p:cNvGraphicFramePr>
          <p:nvPr/>
        </p:nvGraphicFramePr>
        <p:xfrm>
          <a:off x="731520" y="1645920"/>
          <a:ext cx="10728655" cy="4389120"/>
        </p:xfrm>
        <a:graphic>
          <a:graphicData uri="http://schemas.openxmlformats.org/drawingml/2006/table">
            <a:tbl>
              <a:tblPr firstRow="1" bandRow="1">
                <a:tableStyleId>{5C22544A-7EE6-4342-B048-85BDC9FD1C3A}</a:tableStyleId>
              </a:tblPr>
              <a:tblGrid>
                <a:gridCol w="2926080"/>
                <a:gridCol w="2011680"/>
                <a:gridCol w="2011680"/>
                <a:gridCol w="2011680"/>
                <a:gridCol w="1767535"/>
              </a:tblGrid>
              <a:tr h="627017">
                <a:tc>
                  <a:txBody>
                    <a:bodyPr/>
                    <a:lstStyle/>
                    <a:p>
                      <a:pPr algn="r"/>
                      <a:r>
                        <a:rPr sz="1100" b="1">
                          <a:solidFill>
                            <a:srgbClr val="FFFFFF"/>
                          </a:solidFill>
                          <a:latin typeface="Cairo"/>
                        </a:rPr>
                        <a:t>بند الإيراد</a:t>
                      </a:r>
                    </a:p>
                  </a:txBody>
                  <a:tcPr>
                    <a:solidFill>
                      <a:srgbClr val="6B1D3A"/>
                    </a:solidFill>
                  </a:tcPr>
                </a:tc>
                <a:tc>
                  <a:txBody>
                    <a:bodyPr/>
                    <a:lstStyle/>
                    <a:p>
                      <a:pPr algn="r"/>
                      <a:r>
                        <a:rPr sz="1100" b="1">
                          <a:solidFill>
                            <a:srgbClr val="FFFFFF"/>
                          </a:solidFill>
                          <a:latin typeface="Cairo"/>
                        </a:rPr>
                        <a:t>النصف الأول ٢٠٢٦م</a:t>
                      </a:r>
                    </a:p>
                  </a:txBody>
                  <a:tcPr>
                    <a:solidFill>
                      <a:srgbClr val="6B1D3A"/>
                    </a:solidFill>
                  </a:tcPr>
                </a:tc>
                <a:tc>
                  <a:txBody>
                    <a:bodyPr/>
                    <a:lstStyle/>
                    <a:p>
                      <a:pPr algn="r"/>
                      <a:r>
                        <a:rPr sz="1100" b="1">
                          <a:solidFill>
                            <a:srgbClr val="FFFFFF"/>
                          </a:solidFill>
                          <a:latin typeface="Cairo"/>
                        </a:rPr>
                        <a:t>النصف الأول ٢٠٢٥م</a:t>
                      </a:r>
                    </a:p>
                  </a:txBody>
                  <a:tcPr>
                    <a:solidFill>
                      <a:srgbClr val="6B1D3A"/>
                    </a:solidFill>
                  </a:tcPr>
                </a:tc>
                <a:tc>
                  <a:txBody>
                    <a:bodyPr/>
                    <a:lstStyle/>
                    <a:p>
                      <a:pPr algn="r"/>
                      <a:r>
                        <a:rPr sz="1100" b="1">
                          <a:solidFill>
                            <a:srgbClr val="FFFFFF"/>
                          </a:solidFill>
                          <a:latin typeface="Cairo"/>
                        </a:rPr>
                        <a:t>التغير (ريال)</a:t>
                      </a:r>
                    </a:p>
                  </a:txBody>
                  <a:tcPr>
                    <a:solidFill>
                      <a:srgbClr val="6B1D3A"/>
                    </a:solidFill>
                  </a:tcPr>
                </a:tc>
                <a:tc>
                  <a:txBody>
                    <a:bodyPr/>
                    <a:lstStyle/>
                    <a:p>
                      <a:pPr algn="r"/>
                      <a:r>
                        <a:rPr sz="1100" b="1">
                          <a:solidFill>
                            <a:srgbClr val="FFFFFF"/>
                          </a:solidFill>
                          <a:latin typeface="Cairo"/>
                        </a:rPr>
                        <a:t>نسبة النمو</a:t>
                      </a:r>
                    </a:p>
                  </a:txBody>
                  <a:tcPr>
                    <a:solidFill>
                      <a:srgbClr val="6B1D3A"/>
                    </a:solidFill>
                  </a:tcPr>
                </a:tc>
              </a:tr>
              <a:tr h="627017">
                <a:tc>
                  <a:txBody>
                    <a:bodyPr/>
                    <a:lstStyle/>
                    <a:p>
                      <a:pPr algn="r"/>
                      <a:r>
                        <a:rPr sz="1050">
                          <a:latin typeface="Cairo"/>
                        </a:rPr>
                        <a:t>أموال الزكاة المقيدة</a:t>
                      </a:r>
                    </a:p>
                  </a:txBody>
                  <a:tcPr>
                    <a:solidFill>
                      <a:srgbClr val="FFFFFF"/>
                    </a:solidFill>
                  </a:tcPr>
                </a:tc>
                <a:tc>
                  <a:txBody>
                    <a:bodyPr/>
                    <a:lstStyle/>
                    <a:p>
                      <a:pPr algn="r"/>
                      <a:r>
                        <a:rPr sz="1050">
                          <a:latin typeface="Cairo"/>
                        </a:rPr>
                        <a:t>٧٠,٠٠٠ ريال</a:t>
                      </a:r>
                    </a:p>
                  </a:txBody>
                  <a:tcPr>
                    <a:solidFill>
                      <a:srgbClr val="FFFFFF"/>
                    </a:solidFill>
                  </a:tcPr>
                </a:tc>
                <a:tc>
                  <a:txBody>
                    <a:bodyPr/>
                    <a:lstStyle/>
                    <a:p>
                      <a:pPr algn="r"/>
                      <a:r>
                        <a:rPr sz="1050">
                          <a:latin typeface="Cairo"/>
                        </a:rPr>
                        <a:t>٨٠,٠٠٠ ريال</a:t>
                      </a:r>
                    </a:p>
                  </a:txBody>
                  <a:tcPr>
                    <a:solidFill>
                      <a:srgbClr val="FFFFFF"/>
                    </a:solidFill>
                  </a:tcPr>
                </a:tc>
                <a:tc>
                  <a:txBody>
                    <a:bodyPr/>
                    <a:lstStyle/>
                    <a:p>
                      <a:pPr algn="r"/>
                      <a:r>
                        <a:rPr sz="1050">
                          <a:latin typeface="Cairo"/>
                        </a:rPr>
                        <a:t>-١٠,٠٠٠</a:t>
                      </a:r>
                    </a:p>
                  </a:txBody>
                  <a:tcPr>
                    <a:solidFill>
                      <a:srgbClr val="FFFFFF"/>
                    </a:solidFill>
                  </a:tcPr>
                </a:tc>
                <a:tc>
                  <a:txBody>
                    <a:bodyPr/>
                    <a:lstStyle/>
                    <a:p>
                      <a:pPr algn="r"/>
                      <a:r>
                        <a:rPr sz="1050" b="1">
                          <a:solidFill>
                            <a:srgbClr val="C0392B"/>
                          </a:solidFill>
                          <a:latin typeface="Cairo"/>
                        </a:rPr>
                        <a:t>-١٣٪</a:t>
                      </a:r>
                    </a:p>
                  </a:txBody>
                  <a:tcPr>
                    <a:solidFill>
                      <a:srgbClr val="FFFFFF"/>
                    </a:solidFill>
                  </a:tcPr>
                </a:tc>
              </a:tr>
              <a:tr h="627017">
                <a:tc>
                  <a:txBody>
                    <a:bodyPr/>
                    <a:lstStyle/>
                    <a:p>
                      <a:pPr algn="r"/>
                      <a:r>
                        <a:rPr sz="1050">
                          <a:latin typeface="Cairo"/>
                        </a:rPr>
                        <a:t>علاج مقيد (مساعدات طبية)</a:t>
                      </a:r>
                    </a:p>
                  </a:txBody>
                  <a:tcPr>
                    <a:solidFill>
                      <a:srgbClr val="F5F2EB"/>
                    </a:solidFill>
                  </a:tcPr>
                </a:tc>
                <a:tc>
                  <a:txBody>
                    <a:bodyPr/>
                    <a:lstStyle/>
                    <a:p>
                      <a:pPr algn="r"/>
                      <a:r>
                        <a:rPr sz="1050">
                          <a:latin typeface="Cairo"/>
                        </a:rPr>
                        <a:t>٧٥,٠٠٠ ريال</a:t>
                      </a:r>
                    </a:p>
                  </a:txBody>
                  <a:tcPr>
                    <a:solidFill>
                      <a:srgbClr val="F5F2EB"/>
                    </a:solidFill>
                  </a:tcPr>
                </a:tc>
                <a:tc>
                  <a:txBody>
                    <a:bodyPr/>
                    <a:lstStyle/>
                    <a:p>
                      <a:pPr algn="r"/>
                      <a:r>
                        <a:rPr sz="1050">
                          <a:latin typeface="Cairo"/>
                        </a:rPr>
                        <a:t>٢٥,٠٠٠ ريال</a:t>
                      </a:r>
                    </a:p>
                  </a:txBody>
                  <a:tcPr>
                    <a:solidFill>
                      <a:srgbClr val="F5F2EB"/>
                    </a:solidFill>
                  </a:tcPr>
                </a:tc>
                <a:tc>
                  <a:txBody>
                    <a:bodyPr/>
                    <a:lstStyle/>
                    <a:p>
                      <a:pPr algn="r"/>
                      <a:r>
                        <a:rPr sz="1050">
                          <a:latin typeface="Cairo"/>
                        </a:rPr>
                        <a:t>+٥٠,٠٠٠</a:t>
                      </a:r>
                    </a:p>
                  </a:txBody>
                  <a:tcPr>
                    <a:solidFill>
                      <a:srgbClr val="F5F2EB"/>
                    </a:solidFill>
                  </a:tcPr>
                </a:tc>
                <a:tc>
                  <a:txBody>
                    <a:bodyPr/>
                    <a:lstStyle/>
                    <a:p>
                      <a:pPr algn="r"/>
                      <a:r>
                        <a:rPr sz="1050" b="1">
                          <a:solidFill>
                            <a:srgbClr val="1E824C"/>
                          </a:solidFill>
                          <a:latin typeface="Cairo"/>
                        </a:rPr>
                        <a:t>+٢٠٠٪</a:t>
                      </a:r>
                    </a:p>
                  </a:txBody>
                  <a:tcPr>
                    <a:solidFill>
                      <a:srgbClr val="F5F2EB"/>
                    </a:solidFill>
                  </a:tcPr>
                </a:tc>
              </a:tr>
              <a:tr h="627017">
                <a:tc>
                  <a:txBody>
                    <a:bodyPr/>
                    <a:lstStyle/>
                    <a:p>
                      <a:pPr algn="r"/>
                      <a:r>
                        <a:rPr sz="1050">
                          <a:latin typeface="Cairo"/>
                        </a:rPr>
                        <a:t>المتجر الإلكتروني</a:t>
                      </a:r>
                    </a:p>
                  </a:txBody>
                  <a:tcPr>
                    <a:solidFill>
                      <a:srgbClr val="FFFFFF"/>
                    </a:solidFill>
                  </a:tcPr>
                </a:tc>
                <a:tc>
                  <a:txBody>
                    <a:bodyPr/>
                    <a:lstStyle/>
                    <a:p>
                      <a:pPr algn="r"/>
                      <a:r>
                        <a:rPr sz="1050">
                          <a:latin typeface="Cairo"/>
                        </a:rPr>
                        <a:t>١٠,٤٦٩ ريال</a:t>
                      </a:r>
                    </a:p>
                  </a:txBody>
                  <a:tcPr>
                    <a:solidFill>
                      <a:srgbClr val="FFFFFF"/>
                    </a:solidFill>
                  </a:tcPr>
                </a:tc>
                <a:tc>
                  <a:txBody>
                    <a:bodyPr/>
                    <a:lstStyle/>
                    <a:p>
                      <a:pPr algn="r"/>
                      <a:r>
                        <a:rPr sz="1050">
                          <a:latin typeface="Cairo"/>
                        </a:rPr>
                        <a:t>١٢٤ ريال</a:t>
                      </a:r>
                    </a:p>
                  </a:txBody>
                  <a:tcPr>
                    <a:solidFill>
                      <a:srgbClr val="FFFFFF"/>
                    </a:solidFill>
                  </a:tcPr>
                </a:tc>
                <a:tc>
                  <a:txBody>
                    <a:bodyPr/>
                    <a:lstStyle/>
                    <a:p>
                      <a:pPr algn="r"/>
                      <a:r>
                        <a:rPr sz="1050">
                          <a:latin typeface="Cairo"/>
                        </a:rPr>
                        <a:t>+١٠,٣٤٥</a:t>
                      </a:r>
                    </a:p>
                  </a:txBody>
                  <a:tcPr>
                    <a:solidFill>
                      <a:srgbClr val="FFFFFF"/>
                    </a:solidFill>
                  </a:tcPr>
                </a:tc>
                <a:tc>
                  <a:txBody>
                    <a:bodyPr/>
                    <a:lstStyle/>
                    <a:p>
                      <a:pPr algn="r"/>
                      <a:r>
                        <a:rPr sz="1050" b="1">
                          <a:solidFill>
                            <a:srgbClr val="1E824C"/>
                          </a:solidFill>
                          <a:latin typeface="Cairo"/>
                        </a:rPr>
                        <a:t>+٨,٣٤٣٪</a:t>
                      </a:r>
                    </a:p>
                  </a:txBody>
                  <a:tcPr>
                    <a:solidFill>
                      <a:srgbClr val="FFFFFF"/>
                    </a:solidFill>
                  </a:tcPr>
                </a:tc>
              </a:tr>
              <a:tr h="627017">
                <a:tc>
                  <a:txBody>
                    <a:bodyPr/>
                    <a:lstStyle/>
                    <a:p>
                      <a:pPr algn="r"/>
                      <a:r>
                        <a:rPr sz="1050">
                          <a:latin typeface="Cairo"/>
                        </a:rPr>
                        <a:t>منصة تبرع الوطنية</a:t>
                      </a:r>
                    </a:p>
                  </a:txBody>
                  <a:tcPr>
                    <a:solidFill>
                      <a:srgbClr val="F5F2EB"/>
                    </a:solidFill>
                  </a:tcPr>
                </a:tc>
                <a:tc>
                  <a:txBody>
                    <a:bodyPr/>
                    <a:lstStyle/>
                    <a:p>
                      <a:pPr algn="r"/>
                      <a:r>
                        <a:rPr sz="1050">
                          <a:latin typeface="Cairo"/>
                        </a:rPr>
                        <a:t>١,٢٠٣ ريال</a:t>
                      </a:r>
                    </a:p>
                  </a:txBody>
                  <a:tcPr>
                    <a:solidFill>
                      <a:srgbClr val="F5F2EB"/>
                    </a:solidFill>
                  </a:tcPr>
                </a:tc>
                <a:tc>
                  <a:txBody>
                    <a:bodyPr/>
                    <a:lstStyle/>
                    <a:p>
                      <a:pPr algn="r"/>
                      <a:r>
                        <a:rPr sz="1050">
                          <a:latin typeface="Cairo"/>
                        </a:rPr>
                        <a:t>١٣,٧٨٦ ريال</a:t>
                      </a:r>
                    </a:p>
                  </a:txBody>
                  <a:tcPr>
                    <a:solidFill>
                      <a:srgbClr val="F5F2EB"/>
                    </a:solidFill>
                  </a:tcPr>
                </a:tc>
                <a:tc>
                  <a:txBody>
                    <a:bodyPr/>
                    <a:lstStyle/>
                    <a:p>
                      <a:pPr algn="r"/>
                      <a:r>
                        <a:rPr sz="1050">
                          <a:latin typeface="Cairo"/>
                        </a:rPr>
                        <a:t>-١٢,٥٨٣</a:t>
                      </a:r>
                    </a:p>
                  </a:txBody>
                  <a:tcPr>
                    <a:solidFill>
                      <a:srgbClr val="F5F2EB"/>
                    </a:solidFill>
                  </a:tcPr>
                </a:tc>
                <a:tc>
                  <a:txBody>
                    <a:bodyPr/>
                    <a:lstStyle/>
                    <a:p>
                      <a:pPr algn="r"/>
                      <a:r>
                        <a:rPr sz="1050" b="1">
                          <a:solidFill>
                            <a:srgbClr val="C0392B"/>
                          </a:solidFill>
                          <a:latin typeface="Cairo"/>
                        </a:rPr>
                        <a:t>-٩١٪</a:t>
                      </a:r>
                    </a:p>
                  </a:txBody>
                  <a:tcPr>
                    <a:solidFill>
                      <a:srgbClr val="F5F2EB"/>
                    </a:solidFill>
                  </a:tcPr>
                </a:tc>
              </a:tr>
              <a:tr h="627017">
                <a:tc>
                  <a:txBody>
                    <a:bodyPr/>
                    <a:lstStyle/>
                    <a:p>
                      <a:pPr algn="r"/>
                      <a:r>
                        <a:rPr sz="1050">
                          <a:latin typeface="Cairo"/>
                        </a:rPr>
                        <a:t>تبرعات ودعم عام</a:t>
                      </a:r>
                    </a:p>
                  </a:txBody>
                  <a:tcPr>
                    <a:solidFill>
                      <a:srgbClr val="FFFFFF"/>
                    </a:solidFill>
                  </a:tcPr>
                </a:tc>
                <a:tc>
                  <a:txBody>
                    <a:bodyPr/>
                    <a:lstStyle/>
                    <a:p>
                      <a:pPr algn="r"/>
                      <a:r>
                        <a:rPr sz="1050">
                          <a:latin typeface="Cairo"/>
                        </a:rPr>
                        <a:t>٤٠٧,٤٩٥ ريال</a:t>
                      </a:r>
                    </a:p>
                  </a:txBody>
                  <a:tcPr>
                    <a:solidFill>
                      <a:srgbClr val="FFFFFF"/>
                    </a:solidFill>
                  </a:tcPr>
                </a:tc>
                <a:tc>
                  <a:txBody>
                    <a:bodyPr/>
                    <a:lstStyle/>
                    <a:p>
                      <a:pPr algn="r"/>
                      <a:r>
                        <a:rPr sz="1050">
                          <a:latin typeface="Cairo"/>
                        </a:rPr>
                        <a:t>٦٢,٥٦٤ ريال</a:t>
                      </a:r>
                    </a:p>
                  </a:txBody>
                  <a:tcPr>
                    <a:solidFill>
                      <a:srgbClr val="FFFFFF"/>
                    </a:solidFill>
                  </a:tcPr>
                </a:tc>
                <a:tc>
                  <a:txBody>
                    <a:bodyPr/>
                    <a:lstStyle/>
                    <a:p>
                      <a:pPr algn="r"/>
                      <a:r>
                        <a:rPr sz="1050">
                          <a:latin typeface="Cairo"/>
                        </a:rPr>
                        <a:t>+٣٤٤,٩٣١</a:t>
                      </a:r>
                    </a:p>
                  </a:txBody>
                  <a:tcPr>
                    <a:solidFill>
                      <a:srgbClr val="FFFFFF"/>
                    </a:solidFill>
                  </a:tcPr>
                </a:tc>
                <a:tc>
                  <a:txBody>
                    <a:bodyPr/>
                    <a:lstStyle/>
                    <a:p>
                      <a:pPr algn="r"/>
                      <a:r>
                        <a:rPr sz="1050" b="1">
                          <a:solidFill>
                            <a:srgbClr val="1E824C"/>
                          </a:solidFill>
                          <a:latin typeface="Cairo"/>
                        </a:rPr>
                        <a:t>+٥٥١٪</a:t>
                      </a:r>
                    </a:p>
                  </a:txBody>
                  <a:tcPr>
                    <a:solidFill>
                      <a:srgbClr val="FFFFFF"/>
                    </a:solidFill>
                  </a:tcPr>
                </a:tc>
              </a:tr>
              <a:tr h="627018">
                <a:tc>
                  <a:txBody>
                    <a:bodyPr/>
                    <a:lstStyle/>
                    <a:p>
                      <a:pPr algn="r"/>
                      <a:r>
                        <a:rPr sz="1050">
                          <a:latin typeface="Cairo"/>
                        </a:rPr>
                        <a:t>اشتراكات العضوية</a:t>
                      </a:r>
                    </a:p>
                  </a:txBody>
                  <a:tcPr>
                    <a:solidFill>
                      <a:srgbClr val="F5F2EB"/>
                    </a:solidFill>
                  </a:tcPr>
                </a:tc>
                <a:tc>
                  <a:txBody>
                    <a:bodyPr/>
                    <a:lstStyle/>
                    <a:p>
                      <a:pPr algn="r"/>
                      <a:r>
                        <a:rPr sz="1050">
                          <a:latin typeface="Cairo"/>
                        </a:rPr>
                        <a:t>١٨,٠٠٠ ريال</a:t>
                      </a:r>
                    </a:p>
                  </a:txBody>
                  <a:tcPr>
                    <a:solidFill>
                      <a:srgbClr val="F5F2EB"/>
                    </a:solidFill>
                  </a:tcPr>
                </a:tc>
                <a:tc>
                  <a:txBody>
                    <a:bodyPr/>
                    <a:lstStyle/>
                    <a:p>
                      <a:pPr algn="r"/>
                      <a:r>
                        <a:rPr sz="1050">
                          <a:latin typeface="Cairo"/>
                        </a:rPr>
                        <a:t>١٨,٠٠٠ ريال</a:t>
                      </a:r>
                    </a:p>
                  </a:txBody>
                  <a:tcPr>
                    <a:solidFill>
                      <a:srgbClr val="F5F2EB"/>
                    </a:solidFill>
                  </a:tcPr>
                </a:tc>
                <a:tc>
                  <a:txBody>
                    <a:bodyPr/>
                    <a:lstStyle/>
                    <a:p>
                      <a:pPr algn="r"/>
                      <a:r>
                        <a:rPr sz="1050">
                          <a:latin typeface="Cairo"/>
                        </a:rPr>
                        <a:t>٠</a:t>
                      </a:r>
                    </a:p>
                  </a:txBody>
                  <a:tcPr>
                    <a:solidFill>
                      <a:srgbClr val="F5F2EB"/>
                    </a:solidFill>
                  </a:tcPr>
                </a:tc>
                <a:tc>
                  <a:txBody>
                    <a:bodyPr/>
                    <a:lstStyle/>
                    <a:p>
                      <a:pPr algn="r"/>
                      <a:r>
                        <a:rPr sz="1050">
                          <a:latin typeface="Cairo"/>
                        </a:rPr>
                        <a:t>٠٪</a:t>
                      </a:r>
                    </a:p>
                  </a:txBody>
                  <a:tcPr>
                    <a:solidFill>
                      <a:srgbClr val="F5F2E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التخطيط والالتزام المالي</a:t>
            </a:r>
          </a:p>
          <a:p>
            <a:pPr algn="r"/>
            <a:r>
              <a:rPr sz="2200" b="1">
                <a:solidFill>
                  <a:srgbClr val="6B1D3A"/>
                </a:solidFill>
                <a:latin typeface="Cairo"/>
              </a:rPr>
              <a:t>مستوى تنفيذ الموازنة التقديرية (٢٠٢٦م)</a:t>
            </a:r>
          </a:p>
        </p:txBody>
      </p:sp>
      <p:sp>
        <p:nvSpPr>
          <p:cNvPr id="3" name="Rounded Rectangle 2"/>
          <p:cNvSpPr/>
          <p:nvPr/>
        </p:nvSpPr>
        <p:spPr>
          <a:xfrm>
            <a:off x="731520" y="1645920"/>
            <a:ext cx="10728655" cy="7315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37360"/>
            <a:ext cx="10362895" cy="548640"/>
          </a:xfrm>
          <a:prstGeom prst="rect">
            <a:avLst/>
          </a:prstGeom>
          <a:noFill/>
        </p:spPr>
        <p:txBody>
          <a:bodyPr wrap="none">
            <a:spAutoFit/>
          </a:bodyPr>
          <a:lstStyle/>
          <a:p>
            <a:pPr algn="r"/>
            <a:r>
              <a:rPr sz="1150" b="1">
                <a:solidFill>
                  <a:srgbClr val="6B1D3A"/>
                </a:solidFill>
                <a:latin typeface="Cairo"/>
              </a:rPr>
              <a:t>التبرعات والدعم (الإيرادات):  </a:t>
            </a:r>
            <a:r>
              <a:rPr sz="1100">
                <a:solidFill>
                  <a:srgbClr val="6B6864"/>
                </a:solidFill>
                <a:latin typeface="Cairo"/>
              </a:rPr>
              <a:t>٥٨٢,١٦٧ / ١,٥٢٧,٠٠٠ ريال  |  نسبة الإنجاز: </a:t>
            </a:r>
            <a:r>
              <a:rPr sz="1300" b="1">
                <a:solidFill>
                  <a:srgbClr val="1E824C"/>
                </a:solidFill>
                <a:latin typeface="Cairo"/>
              </a:rPr>
              <a:t>٤٠.٠٢٪</a:t>
            </a:r>
          </a:p>
        </p:txBody>
      </p:sp>
      <p:sp>
        <p:nvSpPr>
          <p:cNvPr id="5" name="Rounded Rectangle 4"/>
          <p:cNvSpPr/>
          <p:nvPr/>
        </p:nvSpPr>
        <p:spPr>
          <a:xfrm>
            <a:off x="731520" y="2514600"/>
            <a:ext cx="10728655" cy="7315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06040"/>
            <a:ext cx="10362895" cy="548640"/>
          </a:xfrm>
          <a:prstGeom prst="rect">
            <a:avLst/>
          </a:prstGeom>
          <a:noFill/>
        </p:spPr>
        <p:txBody>
          <a:bodyPr wrap="none">
            <a:spAutoFit/>
          </a:bodyPr>
          <a:lstStyle/>
          <a:p>
            <a:pPr algn="r"/>
            <a:r>
              <a:rPr sz="1150" b="1">
                <a:solidFill>
                  <a:srgbClr val="6B1D3A"/>
                </a:solidFill>
                <a:latin typeface="Cairo"/>
              </a:rPr>
              <a:t>المساعدات العلاجية للمرضى:  </a:t>
            </a:r>
            <a:r>
              <a:rPr sz="1100">
                <a:solidFill>
                  <a:srgbClr val="6B6864"/>
                </a:solidFill>
                <a:latin typeface="Cairo"/>
              </a:rPr>
              <a:t>٢٠٨,٦٠٥ / ٧٥٠,٠٠٠ ريال  |  نسبة الإنجاز: </a:t>
            </a:r>
            <a:r>
              <a:rPr sz="1300" b="1">
                <a:solidFill>
                  <a:srgbClr val="1E824C"/>
                </a:solidFill>
                <a:latin typeface="Cairo"/>
              </a:rPr>
              <a:t>٢٧.٨١٪</a:t>
            </a:r>
          </a:p>
        </p:txBody>
      </p:sp>
      <p:sp>
        <p:nvSpPr>
          <p:cNvPr id="7" name="Rounded Rectangle 6"/>
          <p:cNvSpPr/>
          <p:nvPr/>
        </p:nvSpPr>
        <p:spPr>
          <a:xfrm>
            <a:off x="731520" y="3383280"/>
            <a:ext cx="10728655" cy="7315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474720"/>
            <a:ext cx="10362895" cy="548640"/>
          </a:xfrm>
          <a:prstGeom prst="rect">
            <a:avLst/>
          </a:prstGeom>
          <a:noFill/>
        </p:spPr>
        <p:txBody>
          <a:bodyPr wrap="none">
            <a:spAutoFit/>
          </a:bodyPr>
          <a:lstStyle/>
          <a:p>
            <a:pPr algn="r"/>
            <a:r>
              <a:rPr sz="1150" b="1">
                <a:solidFill>
                  <a:srgbClr val="6B1D3A"/>
                </a:solidFill>
                <a:latin typeface="Cairo"/>
              </a:rPr>
              <a:t>الرواتب والأجور والكادر:  </a:t>
            </a:r>
            <a:r>
              <a:rPr sz="1100">
                <a:solidFill>
                  <a:srgbClr val="6B6864"/>
                </a:solidFill>
                <a:latin typeface="Cairo"/>
              </a:rPr>
              <a:t>١٤٤,٤٠٥ / ٤٧٢,٠٠٠ ريال  |  نسبة الإنجاز: </a:t>
            </a:r>
            <a:r>
              <a:rPr sz="1300" b="1">
                <a:solidFill>
                  <a:srgbClr val="6B1D3A"/>
                </a:solidFill>
                <a:latin typeface="Cairo"/>
              </a:rPr>
              <a:t>٣٠.٥٩٪</a:t>
            </a:r>
          </a:p>
        </p:txBody>
      </p:sp>
      <p:sp>
        <p:nvSpPr>
          <p:cNvPr id="9" name="Rounded Rectangle 8"/>
          <p:cNvSpPr/>
          <p:nvPr/>
        </p:nvSpPr>
        <p:spPr>
          <a:xfrm>
            <a:off x="731520" y="4251959"/>
            <a:ext cx="10728655" cy="7315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43399"/>
            <a:ext cx="10362895" cy="548640"/>
          </a:xfrm>
          <a:prstGeom prst="rect">
            <a:avLst/>
          </a:prstGeom>
          <a:noFill/>
        </p:spPr>
        <p:txBody>
          <a:bodyPr wrap="none">
            <a:spAutoFit/>
          </a:bodyPr>
          <a:lstStyle/>
          <a:p>
            <a:pPr algn="r"/>
            <a:r>
              <a:rPr sz="1150" b="1">
                <a:solidFill>
                  <a:srgbClr val="6B1D3A"/>
                </a:solidFill>
                <a:latin typeface="Cairo"/>
              </a:rPr>
              <a:t>المصروفات التشغيلية:  </a:t>
            </a:r>
            <a:r>
              <a:rPr sz="1100">
                <a:solidFill>
                  <a:srgbClr val="6B6864"/>
                </a:solidFill>
                <a:latin typeface="Cairo"/>
              </a:rPr>
              <a:t>١٠٩,٨٦٩ / ١٤٢,٣٠٠ ريال  |  نسبة الإنجاز: </a:t>
            </a:r>
            <a:r>
              <a:rPr sz="1300" b="1">
                <a:solidFill>
                  <a:srgbClr val="D9822B"/>
                </a:solidFill>
                <a:latin typeface="Cairo"/>
              </a:rPr>
              <a:t>٧٧.٢١٪</a:t>
            </a:r>
          </a:p>
        </p:txBody>
      </p:sp>
      <p:sp>
        <p:nvSpPr>
          <p:cNvPr id="11" name="Rounded Rectangle 10"/>
          <p:cNvSpPr/>
          <p:nvPr/>
        </p:nvSpPr>
        <p:spPr>
          <a:xfrm>
            <a:off x="731520" y="5120640"/>
            <a:ext cx="10728655" cy="7315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212079"/>
            <a:ext cx="10362895" cy="548640"/>
          </a:xfrm>
          <a:prstGeom prst="rect">
            <a:avLst/>
          </a:prstGeom>
          <a:noFill/>
        </p:spPr>
        <p:txBody>
          <a:bodyPr wrap="none">
            <a:spAutoFit/>
          </a:bodyPr>
          <a:lstStyle/>
          <a:p>
            <a:pPr algn="r"/>
            <a:r>
              <a:rPr sz="1150" b="1">
                <a:solidFill>
                  <a:srgbClr val="6B1D3A"/>
                </a:solidFill>
                <a:latin typeface="Cairo"/>
              </a:rPr>
              <a:t>شراء الأصول والتجهيزات:  </a:t>
            </a:r>
            <a:r>
              <a:rPr sz="1100">
                <a:solidFill>
                  <a:srgbClr val="6B6864"/>
                </a:solidFill>
                <a:latin typeface="Cairo"/>
              </a:rPr>
              <a:t>١٥,٦٢١ / ١٩,٤٥٠ ريال  |  نسبة الإنجاز: </a:t>
            </a:r>
            <a:r>
              <a:rPr sz="1300" b="1">
                <a:solidFill>
                  <a:srgbClr val="C0392B"/>
                </a:solidFill>
                <a:latin typeface="Cairo"/>
              </a:rPr>
              <a:t>٨٠.٣١٪</a:t>
            </a:r>
          </a:p>
        </p:txBody>
      </p:sp>
      <p:sp>
        <p:nvSpPr>
          <p:cNvPr id="13" name="Rounded Rectangle 12"/>
          <p:cNvSpPr/>
          <p:nvPr/>
        </p:nvSpPr>
        <p:spPr>
          <a:xfrm>
            <a:off x="731520" y="5852160"/>
            <a:ext cx="10728655" cy="640080"/>
          </a:xfrm>
          <a:prstGeom prst="roundRect">
            <a:avLst/>
          </a:prstGeom>
          <a:solidFill>
            <a:srgbClr val="6B1D3A"/>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897880"/>
            <a:ext cx="10362895" cy="548640"/>
          </a:xfrm>
          <a:prstGeom prst="rect">
            <a:avLst/>
          </a:prstGeom>
          <a:noFill/>
        </p:spPr>
        <p:txBody>
          <a:bodyPr wrap="none">
            <a:spAutoFit/>
          </a:bodyPr>
          <a:lstStyle/>
          <a:p>
            <a:pPr algn="ctr"/>
            <a:r>
              <a:rPr sz="1200" b="1">
                <a:solidFill>
                  <a:srgbClr val="FFFFFF"/>
                </a:solidFill>
                <a:latin typeface="Cairo"/>
              </a:rPr>
              <a:t>إجمالي المنفذ الفعلي: ١,٠٦٠,٦٦٦ ريال من أصل موازنة سنوية ٢,٩٨١,٧٥٠ ريال (نسبة التنفيذ الإجمالية: ٣٥.٥٧٪)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الترشيد والشفافية</a:t>
            </a:r>
          </a:p>
          <a:p>
            <a:pPr algn="r"/>
            <a:r>
              <a:rPr sz="2200" b="1">
                <a:solidFill>
                  <a:srgbClr val="6B1D3A"/>
                </a:solidFill>
                <a:latin typeface="Cairo"/>
              </a:rPr>
              <a:t>هيكل المصروفات التشغيلية وأوجه الإنفاق</a:t>
            </a:r>
          </a:p>
        </p:txBody>
      </p:sp>
      <p:sp>
        <p:nvSpPr>
          <p:cNvPr id="3" name="Rounded Rectangle 2"/>
          <p:cNvSpPr/>
          <p:nvPr/>
        </p:nvSpPr>
        <p:spPr>
          <a:xfrm>
            <a:off x="731520" y="1645920"/>
            <a:ext cx="5212080" cy="45720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4846320" cy="4114800"/>
          </a:xfrm>
          <a:prstGeom prst="rect">
            <a:avLst/>
          </a:prstGeom>
          <a:noFill/>
        </p:spPr>
        <p:txBody>
          <a:bodyPr wrap="square">
            <a:spAutoFit/>
          </a:bodyPr>
          <a:lstStyle/>
          <a:p>
            <a:pPr algn="r"/>
            <a:r>
              <a:rPr sz="1300" b="1">
                <a:solidFill>
                  <a:srgbClr val="6B1D3A"/>
                </a:solidFill>
                <a:latin typeface="Cairo"/>
              </a:rPr>
              <a:t>البنود التشغيلية الرئيسية (H1 2026):
</a:t>
            </a:r>
          </a:p>
          <a:p>
            <a:pPr algn="r"/>
            <a:r>
              <a:rPr sz="1050">
                <a:solidFill>
                  <a:srgbClr val="242220"/>
                </a:solidFill>
                <a:latin typeface="Cairo"/>
              </a:rPr>
              <a:t>١. الرواتب الأساسية: ١٤٤,٤٠٥ ريال (٥٦.٨٪ من النفقات)
</a:t>
            </a:r>
          </a:p>
          <a:p>
            <a:pPr algn="r"/>
            <a:r>
              <a:rPr sz="1050">
                <a:solidFill>
                  <a:srgbClr val="242220"/>
                </a:solidFill>
                <a:latin typeface="Cairo"/>
              </a:rPr>
              <a:t>٢. الإيجار المكتبي: ٦٣,٣٣٣ ريال (٢٤.٩٪ من النفقات)
</a:t>
            </a:r>
          </a:p>
          <a:p>
            <a:pPr algn="r"/>
            <a:r>
              <a:rPr sz="1050">
                <a:solidFill>
                  <a:srgbClr val="242220"/>
                </a:solidFill>
                <a:latin typeface="Cairo"/>
              </a:rPr>
              <a:t>٣. التأمينات الاجتماعية: ١٤,٧٦٨ ريال (٥.٨٪)
</a:t>
            </a:r>
          </a:p>
          <a:p>
            <a:pPr algn="r"/>
            <a:r>
              <a:rPr sz="1050">
                <a:solidFill>
                  <a:srgbClr val="242220"/>
                </a:solidFill>
                <a:latin typeface="Cairo"/>
              </a:rPr>
              <a:t>٤. أجور متعاونين ومحاسب: ١٣,٠٠٠ ريال (٥.١٪)
</a:t>
            </a:r>
          </a:p>
          <a:p>
            <a:pPr algn="r"/>
            <a:r>
              <a:rPr sz="1050">
                <a:solidFill>
                  <a:srgbClr val="242220"/>
                </a:solidFill>
                <a:latin typeface="Cairo"/>
              </a:rPr>
              <a:t>٥. المحاسب القانوني للقوائم: ٤,٦٠٠ ريال (١.٨٪)
</a:t>
            </a:r>
          </a:p>
          <a:p>
            <a:pPr algn="r"/>
            <a:r>
              <a:rPr sz="1050">
                <a:solidFill>
                  <a:srgbClr val="242220"/>
                </a:solidFill>
                <a:latin typeface="Cairo"/>
              </a:rPr>
              <a:t>٦. الكهرباء والخدمات: ٣,٨٦٧ ريال (١.٥٪)
</a:t>
            </a:r>
          </a:p>
        </p:txBody>
      </p:sp>
      <p:sp>
        <p:nvSpPr>
          <p:cNvPr id="5" name="Rounded Rectangle 4"/>
          <p:cNvSpPr/>
          <p:nvPr/>
        </p:nvSpPr>
        <p:spPr>
          <a:xfrm>
            <a:off x="6217920" y="1645920"/>
            <a:ext cx="5212080" cy="4572000"/>
          </a:xfrm>
          <a:prstGeom prst="roundRect">
            <a:avLst/>
          </a:prstGeom>
          <a:solidFill>
            <a:srgbClr val="2E0B17"/>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828800"/>
            <a:ext cx="4846320" cy="4114800"/>
          </a:xfrm>
          <a:prstGeom prst="rect">
            <a:avLst/>
          </a:prstGeom>
          <a:noFill/>
        </p:spPr>
        <p:txBody>
          <a:bodyPr wrap="square">
            <a:spAutoFit/>
          </a:bodyPr>
          <a:lstStyle/>
          <a:p>
            <a:pPr algn="r"/>
            <a:r>
              <a:rPr sz="1300" b="1">
                <a:solidFill>
                  <a:srgbClr val="C9A96E"/>
                </a:solidFill>
                <a:latin typeface="Cairo"/>
              </a:rPr>
              <a:t>ملاحظات الأداء والترشيد المؤسسي:
</a:t>
            </a:r>
          </a:p>
          <a:p>
            <a:pPr algn="r"/>
            <a:r>
              <a:rPr sz="1050">
                <a:solidFill>
                  <a:srgbClr val="FFFFFF"/>
                </a:solidFill>
                <a:latin typeface="Cairo"/>
              </a:rPr>
              <a:t>• وفر الإيجار السنوي: الانتقال إلى مقر جديد بإيجار ٤٥ ألف بدلاً من ٧٠ ألف ريال (وفر ٢٥,٠٠٠ ريال سنوياً).
</a:t>
            </a:r>
          </a:p>
          <a:p>
            <a:pPr algn="r"/>
            <a:r>
              <a:rPr sz="1050">
                <a:solidFill>
                  <a:srgbClr val="FFFFFF"/>
                </a:solidFill>
                <a:latin typeface="Cairo"/>
              </a:rPr>
              <a:t>• استقرار الالتزامات: سداد كامل الالتزامات المرحلة من ٢٠٢٥م بقيمة ١٨,٢١١ ريال.
</a:t>
            </a:r>
          </a:p>
          <a:p>
            <a:pPr algn="r"/>
            <a:r>
              <a:rPr sz="1050">
                <a:solidFill>
                  <a:srgbClr val="FFFFFF"/>
                </a:solidFill>
                <a:latin typeface="Cairo"/>
              </a:rPr>
              <a:t>• استثمار التحول الرقمي: ٣,٠٠٠ ريال لتطوير البوابة الرسمية، وتفعيل نظام قيود السحابي.
</a:t>
            </a:r>
          </a:p>
          <a:p>
            <a:pPr algn="r"/>
            <a:r>
              <a:rPr sz="1050">
                <a:solidFill>
                  <a:srgbClr val="FFFFFF"/>
                </a:solidFill>
                <a:latin typeface="Cairo"/>
              </a:rPr>
              <a:t>• التوصية الإدارية: ترشيد النفقات الإدارية لتكون متناسبة مع التوسع بالبرامج الطبية.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الأثر الميداني</a:t>
            </a:r>
          </a:p>
          <a:p>
            <a:pPr algn="r"/>
            <a:r>
              <a:rPr sz="2200" b="1">
                <a:solidFill>
                  <a:srgbClr val="6B1D3A"/>
                </a:solidFill>
                <a:latin typeface="Cairo"/>
              </a:rPr>
              <a:t>البرامج والخدمات الطبية للمرضى (برنامج جودة حياة)</a:t>
            </a:r>
          </a:p>
        </p:txBody>
      </p:sp>
      <p:graphicFrame>
        <p:nvGraphicFramePr>
          <p:cNvPr id="3" name="Table 2"/>
          <p:cNvGraphicFramePr>
            <a:graphicFrameLocks noGrp="1"/>
          </p:cNvGraphicFramePr>
          <p:nvPr/>
        </p:nvGraphicFramePr>
        <p:xfrm>
          <a:off x="731520" y="1645920"/>
          <a:ext cx="10728655" cy="4572000"/>
        </p:xfrm>
        <a:graphic>
          <a:graphicData uri="http://schemas.openxmlformats.org/drawingml/2006/table">
            <a:tbl>
              <a:tblPr firstRow="1" bandRow="1">
                <a:tableStyleId>{5C22544A-7EE6-4342-B048-85BDC9FD1C3A}</a:tableStyleId>
              </a:tblPr>
              <a:tblGrid>
                <a:gridCol w="2560320"/>
                <a:gridCol w="2926080"/>
                <a:gridCol w="3200400"/>
                <a:gridCol w="2041855"/>
              </a:tblGrid>
              <a:tr h="571500">
                <a:tc>
                  <a:txBody>
                    <a:bodyPr/>
                    <a:lstStyle/>
                    <a:p>
                      <a:pPr algn="r"/>
                      <a:r>
                        <a:rPr sz="1100" b="1">
                          <a:solidFill>
                            <a:srgbClr val="FFFFFF"/>
                          </a:solidFill>
                          <a:latin typeface="Cairo"/>
                        </a:rPr>
                        <a:t>اسم المستفيد</a:t>
                      </a:r>
                    </a:p>
                  </a:txBody>
                  <a:tcPr>
                    <a:solidFill>
                      <a:srgbClr val="6B1D3A"/>
                    </a:solidFill>
                  </a:tcPr>
                </a:tc>
                <a:tc>
                  <a:txBody>
                    <a:bodyPr/>
                    <a:lstStyle/>
                    <a:p>
                      <a:pPr algn="r"/>
                      <a:r>
                        <a:rPr sz="1100" b="1">
                          <a:solidFill>
                            <a:srgbClr val="FFFFFF"/>
                          </a:solidFill>
                          <a:latin typeface="Cairo"/>
                        </a:rPr>
                        <a:t>الجهة العلاجية</a:t>
                      </a:r>
                    </a:p>
                  </a:txBody>
                  <a:tcPr>
                    <a:solidFill>
                      <a:srgbClr val="6B1D3A"/>
                    </a:solidFill>
                  </a:tcPr>
                </a:tc>
                <a:tc>
                  <a:txBody>
                    <a:bodyPr/>
                    <a:lstStyle/>
                    <a:p>
                      <a:pPr algn="r"/>
                      <a:r>
                        <a:rPr sz="1100" b="1">
                          <a:solidFill>
                            <a:srgbClr val="FFFFFF"/>
                          </a:solidFill>
                          <a:latin typeface="Cairo"/>
                        </a:rPr>
                        <a:t>التشخيص الطبي</a:t>
                      </a:r>
                    </a:p>
                  </a:txBody>
                  <a:tcPr>
                    <a:solidFill>
                      <a:srgbClr val="6B1D3A"/>
                    </a:solidFill>
                  </a:tcPr>
                </a:tc>
                <a:tc>
                  <a:txBody>
                    <a:bodyPr/>
                    <a:lstStyle/>
                    <a:p>
                      <a:pPr algn="r"/>
                      <a:r>
                        <a:rPr sz="1100" b="1">
                          <a:solidFill>
                            <a:srgbClr val="FFFFFF"/>
                          </a:solidFill>
                          <a:latin typeface="Cairo"/>
                        </a:rPr>
                        <a:t>مبلغ الدعم (ريال)</a:t>
                      </a:r>
                    </a:p>
                  </a:txBody>
                  <a:tcPr>
                    <a:solidFill>
                      <a:srgbClr val="6B1D3A"/>
                    </a:solidFill>
                  </a:tcPr>
                </a:tc>
              </a:tr>
              <a:tr h="571500">
                <a:tc>
                  <a:txBody>
                    <a:bodyPr/>
                    <a:lstStyle/>
                    <a:p>
                      <a:pPr algn="r"/>
                      <a:r>
                        <a:rPr sz="1000">
                          <a:latin typeface="Cairo"/>
                        </a:rPr>
                        <a:t>فايز أحمد عبدالعزيز</a:t>
                      </a:r>
                    </a:p>
                  </a:txBody>
                  <a:tcPr>
                    <a:solidFill>
                      <a:srgbClr val="FFFFFF"/>
                    </a:solidFill>
                  </a:tcPr>
                </a:tc>
                <a:tc>
                  <a:txBody>
                    <a:bodyPr/>
                    <a:lstStyle/>
                    <a:p>
                      <a:pPr algn="r"/>
                      <a:r>
                        <a:rPr sz="1000">
                          <a:latin typeface="Cairo"/>
                        </a:rPr>
                        <a:t>المستشفى السعودي الألماني</a:t>
                      </a:r>
                    </a:p>
                  </a:txBody>
                  <a:tcPr>
                    <a:solidFill>
                      <a:srgbClr val="FFFFFF"/>
                    </a:solidFill>
                  </a:tcPr>
                </a:tc>
                <a:tc>
                  <a:txBody>
                    <a:bodyPr/>
                    <a:lstStyle/>
                    <a:p>
                      <a:pPr algn="r"/>
                      <a:r>
                        <a:rPr sz="1000">
                          <a:latin typeface="Cairo"/>
                        </a:rPr>
                        <a:t>سرطان الدم (علاج مناعي وكيماوي)</a:t>
                      </a:r>
                    </a:p>
                  </a:txBody>
                  <a:tcPr>
                    <a:solidFill>
                      <a:srgbClr val="FFFFFF"/>
                    </a:solidFill>
                  </a:tcPr>
                </a:tc>
                <a:tc>
                  <a:txBody>
                    <a:bodyPr/>
                    <a:lstStyle/>
                    <a:p>
                      <a:pPr algn="r"/>
                      <a:r>
                        <a:rPr sz="1000" b="1">
                          <a:solidFill>
                            <a:srgbClr val="6B1D3A"/>
                          </a:solidFill>
                          <a:latin typeface="Cairo"/>
                        </a:rPr>
                        <a:t>١٥٠,٠٠٠ ريال</a:t>
                      </a:r>
                    </a:p>
                  </a:txBody>
                  <a:tcPr>
                    <a:solidFill>
                      <a:srgbClr val="FFFFFF"/>
                    </a:solidFill>
                  </a:tcPr>
                </a:tc>
              </a:tr>
              <a:tr h="571500">
                <a:tc>
                  <a:txBody>
                    <a:bodyPr/>
                    <a:lstStyle/>
                    <a:p>
                      <a:pPr algn="r"/>
                      <a:r>
                        <a:rPr sz="1000">
                          <a:latin typeface="Cairo"/>
                        </a:rPr>
                        <a:t>زينب عمر علي</a:t>
                      </a:r>
                    </a:p>
                  </a:txBody>
                  <a:tcPr>
                    <a:solidFill>
                      <a:srgbClr val="F5F2EB"/>
                    </a:solidFill>
                  </a:tcPr>
                </a:tc>
                <a:tc>
                  <a:txBody>
                    <a:bodyPr/>
                    <a:lstStyle/>
                    <a:p>
                      <a:pPr algn="r"/>
                      <a:r>
                        <a:rPr sz="1000">
                          <a:latin typeface="Cairo"/>
                        </a:rPr>
                        <a:t>المستشفى السعودي الألماني</a:t>
                      </a:r>
                    </a:p>
                  </a:txBody>
                  <a:tcPr>
                    <a:solidFill>
                      <a:srgbClr val="F5F2EB"/>
                    </a:solidFill>
                  </a:tcPr>
                </a:tc>
                <a:tc>
                  <a:txBody>
                    <a:bodyPr/>
                    <a:lstStyle/>
                    <a:p>
                      <a:pPr algn="r"/>
                      <a:r>
                        <a:rPr sz="1000">
                          <a:latin typeface="Cairo"/>
                        </a:rPr>
                        <a:t>سرطان نخر العظم</a:t>
                      </a:r>
                    </a:p>
                  </a:txBody>
                  <a:tcPr>
                    <a:solidFill>
                      <a:srgbClr val="F5F2EB"/>
                    </a:solidFill>
                  </a:tcPr>
                </a:tc>
                <a:tc>
                  <a:txBody>
                    <a:bodyPr/>
                    <a:lstStyle/>
                    <a:p>
                      <a:pPr algn="r"/>
                      <a:r>
                        <a:rPr sz="1000" b="1">
                          <a:solidFill>
                            <a:srgbClr val="6B1D3A"/>
                          </a:solidFill>
                          <a:latin typeface="Cairo"/>
                        </a:rPr>
                        <a:t>٣٠,٠٠٠ ريال</a:t>
                      </a:r>
                    </a:p>
                  </a:txBody>
                  <a:tcPr>
                    <a:solidFill>
                      <a:srgbClr val="F5F2EB"/>
                    </a:solidFill>
                  </a:tcPr>
                </a:tc>
              </a:tr>
              <a:tr h="571500">
                <a:tc>
                  <a:txBody>
                    <a:bodyPr/>
                    <a:lstStyle/>
                    <a:p>
                      <a:pPr algn="r"/>
                      <a:r>
                        <a:rPr sz="1000">
                          <a:latin typeface="Cairo"/>
                        </a:rPr>
                        <a:t>كندفة محمد عتبة</a:t>
                      </a:r>
                    </a:p>
                  </a:txBody>
                  <a:tcPr>
                    <a:solidFill>
                      <a:srgbClr val="FFFFFF"/>
                    </a:solidFill>
                  </a:tcPr>
                </a:tc>
                <a:tc>
                  <a:txBody>
                    <a:bodyPr/>
                    <a:lstStyle/>
                    <a:p>
                      <a:pPr algn="r"/>
                      <a:r>
                        <a:rPr sz="1000">
                          <a:latin typeface="Cairo"/>
                        </a:rPr>
                        <a:t>مدينة الملك سلمان الطبية</a:t>
                      </a:r>
                    </a:p>
                  </a:txBody>
                  <a:tcPr>
                    <a:solidFill>
                      <a:srgbClr val="FFFFFF"/>
                    </a:solidFill>
                  </a:tcPr>
                </a:tc>
                <a:tc>
                  <a:txBody>
                    <a:bodyPr/>
                    <a:lstStyle/>
                    <a:p>
                      <a:pPr algn="r"/>
                      <a:r>
                        <a:rPr sz="1000">
                          <a:latin typeface="Cairo"/>
                        </a:rPr>
                        <a:t>تنويم ورعاية تحت الملاحظة</a:t>
                      </a:r>
                    </a:p>
                  </a:txBody>
                  <a:tcPr>
                    <a:solidFill>
                      <a:srgbClr val="FFFFFF"/>
                    </a:solidFill>
                  </a:tcPr>
                </a:tc>
                <a:tc>
                  <a:txBody>
                    <a:bodyPr/>
                    <a:lstStyle/>
                    <a:p>
                      <a:pPr algn="r"/>
                      <a:r>
                        <a:rPr sz="1000" b="1">
                          <a:solidFill>
                            <a:srgbClr val="6B1D3A"/>
                          </a:solidFill>
                          <a:latin typeface="Cairo"/>
                        </a:rPr>
                        <a:t>٧,٠٠٠ ريال</a:t>
                      </a:r>
                    </a:p>
                  </a:txBody>
                  <a:tcPr>
                    <a:solidFill>
                      <a:srgbClr val="FFFFFF"/>
                    </a:solidFill>
                  </a:tcPr>
                </a:tc>
              </a:tr>
              <a:tr h="571500">
                <a:tc>
                  <a:txBody>
                    <a:bodyPr/>
                    <a:lstStyle/>
                    <a:p>
                      <a:pPr algn="r"/>
                      <a:r>
                        <a:rPr sz="1000">
                          <a:latin typeface="Cairo"/>
                        </a:rPr>
                        <a:t>شوق حسن الأنور</a:t>
                      </a:r>
                    </a:p>
                  </a:txBody>
                  <a:tcPr>
                    <a:solidFill>
                      <a:srgbClr val="F5F2EB"/>
                    </a:solidFill>
                  </a:tcPr>
                </a:tc>
                <a:tc>
                  <a:txBody>
                    <a:bodyPr/>
                    <a:lstStyle/>
                    <a:p>
                      <a:pPr algn="r"/>
                      <a:r>
                        <a:rPr sz="1000">
                          <a:latin typeface="Cairo"/>
                        </a:rPr>
                        <a:t>المستشفى السعودي الألماني</a:t>
                      </a:r>
                    </a:p>
                  </a:txBody>
                  <a:tcPr>
                    <a:solidFill>
                      <a:srgbClr val="F5F2EB"/>
                    </a:solidFill>
                  </a:tcPr>
                </a:tc>
                <a:tc>
                  <a:txBody>
                    <a:bodyPr/>
                    <a:lstStyle/>
                    <a:p>
                      <a:pPr algn="r"/>
                      <a:r>
                        <a:rPr sz="1000">
                          <a:latin typeface="Cairo"/>
                        </a:rPr>
                        <a:t>منظار جراحي متقدم</a:t>
                      </a:r>
                    </a:p>
                  </a:txBody>
                  <a:tcPr>
                    <a:solidFill>
                      <a:srgbClr val="F5F2EB"/>
                    </a:solidFill>
                  </a:tcPr>
                </a:tc>
                <a:tc>
                  <a:txBody>
                    <a:bodyPr/>
                    <a:lstStyle/>
                    <a:p>
                      <a:pPr algn="r"/>
                      <a:r>
                        <a:rPr sz="1000" b="1">
                          <a:solidFill>
                            <a:srgbClr val="6B1D3A"/>
                          </a:solidFill>
                          <a:latin typeface="Cairo"/>
                        </a:rPr>
                        <a:t>٧,٠٠٠ ريال</a:t>
                      </a:r>
                    </a:p>
                  </a:txBody>
                  <a:tcPr>
                    <a:solidFill>
                      <a:srgbClr val="F5F2EB"/>
                    </a:solidFill>
                  </a:tcPr>
                </a:tc>
              </a:tr>
              <a:tr h="571500">
                <a:tc>
                  <a:txBody>
                    <a:bodyPr/>
                    <a:lstStyle/>
                    <a:p>
                      <a:pPr algn="r"/>
                      <a:r>
                        <a:rPr sz="1000">
                          <a:latin typeface="Cairo"/>
                        </a:rPr>
                        <a:t>سامية سليمان محمد</a:t>
                      </a:r>
                    </a:p>
                  </a:txBody>
                  <a:tcPr>
                    <a:solidFill>
                      <a:srgbClr val="FFFFFF"/>
                    </a:solidFill>
                  </a:tcPr>
                </a:tc>
                <a:tc>
                  <a:txBody>
                    <a:bodyPr/>
                    <a:lstStyle/>
                    <a:p>
                      <a:pPr algn="r"/>
                      <a:r>
                        <a:rPr sz="1000">
                          <a:latin typeface="Cairo"/>
                        </a:rPr>
                        <a:t>مستشفى المواساة بالمدينة</a:t>
                      </a:r>
                    </a:p>
                  </a:txBody>
                  <a:tcPr>
                    <a:solidFill>
                      <a:srgbClr val="FFFFFF"/>
                    </a:solidFill>
                  </a:tcPr>
                </a:tc>
                <a:tc>
                  <a:txBody>
                    <a:bodyPr/>
                    <a:lstStyle/>
                    <a:p>
                      <a:pPr algn="r"/>
                      <a:r>
                        <a:rPr sz="1000">
                          <a:latin typeface="Cairo"/>
                        </a:rPr>
                        <a:t>استئصال كتلة ورمية بالصدر</a:t>
                      </a:r>
                    </a:p>
                  </a:txBody>
                  <a:tcPr>
                    <a:solidFill>
                      <a:srgbClr val="FFFFFF"/>
                    </a:solidFill>
                  </a:tcPr>
                </a:tc>
                <a:tc>
                  <a:txBody>
                    <a:bodyPr/>
                    <a:lstStyle/>
                    <a:p>
                      <a:pPr algn="r"/>
                      <a:r>
                        <a:rPr sz="1000" b="1">
                          <a:solidFill>
                            <a:srgbClr val="6B1D3A"/>
                          </a:solidFill>
                          <a:latin typeface="Cairo"/>
                        </a:rPr>
                        <a:t>٦,٣٥٠ ريال</a:t>
                      </a:r>
                    </a:p>
                  </a:txBody>
                  <a:tcPr>
                    <a:solidFill>
                      <a:srgbClr val="FFFFFF"/>
                    </a:solidFill>
                  </a:tcPr>
                </a:tc>
              </a:tr>
              <a:tr h="571500">
                <a:tc>
                  <a:txBody>
                    <a:bodyPr/>
                    <a:lstStyle/>
                    <a:p>
                      <a:pPr algn="r"/>
                      <a:r>
                        <a:rPr sz="1000">
                          <a:latin typeface="Cairo"/>
                        </a:rPr>
                        <a:t>زبيدة شمس الدين خاتم</a:t>
                      </a:r>
                    </a:p>
                  </a:txBody>
                  <a:tcPr>
                    <a:solidFill>
                      <a:srgbClr val="F5F2EB"/>
                    </a:solidFill>
                  </a:tcPr>
                </a:tc>
                <a:tc>
                  <a:txBody>
                    <a:bodyPr/>
                    <a:lstStyle/>
                    <a:p>
                      <a:pPr algn="r"/>
                      <a:r>
                        <a:rPr sz="1000">
                          <a:latin typeface="Cairo"/>
                        </a:rPr>
                        <a:t>المستشفى السعودي الألماني</a:t>
                      </a:r>
                    </a:p>
                  </a:txBody>
                  <a:tcPr>
                    <a:solidFill>
                      <a:srgbClr val="F5F2EB"/>
                    </a:solidFill>
                  </a:tcPr>
                </a:tc>
                <a:tc>
                  <a:txBody>
                    <a:bodyPr/>
                    <a:lstStyle/>
                    <a:p>
                      <a:pPr algn="r"/>
                      <a:r>
                        <a:rPr sz="1000">
                          <a:latin typeface="Cairo"/>
                        </a:rPr>
                        <a:t>ورم بالقولون</a:t>
                      </a:r>
                    </a:p>
                  </a:txBody>
                  <a:tcPr>
                    <a:solidFill>
                      <a:srgbClr val="F5F2EB"/>
                    </a:solidFill>
                  </a:tcPr>
                </a:tc>
                <a:tc>
                  <a:txBody>
                    <a:bodyPr/>
                    <a:lstStyle/>
                    <a:p>
                      <a:pPr algn="r"/>
                      <a:r>
                        <a:rPr sz="1000" b="1">
                          <a:solidFill>
                            <a:srgbClr val="6B1D3A"/>
                          </a:solidFill>
                          <a:latin typeface="Cairo"/>
                        </a:rPr>
                        <a:t>٦,٣٣٠.٣١ ريال</a:t>
                      </a:r>
                    </a:p>
                  </a:txBody>
                  <a:tcPr>
                    <a:solidFill>
                      <a:srgbClr val="F5F2EB"/>
                    </a:solidFill>
                  </a:tcPr>
                </a:tc>
              </a:tr>
              <a:tr h="571500">
                <a:tc>
                  <a:txBody>
                    <a:bodyPr/>
                    <a:lstStyle/>
                    <a:p>
                      <a:pPr algn="r"/>
                      <a:r>
                        <a:rPr sz="1000">
                          <a:latin typeface="Cairo"/>
                        </a:rPr>
                        <a:t>محمد أحمد الشرفي</a:t>
                      </a:r>
                    </a:p>
                  </a:txBody>
                  <a:tcPr>
                    <a:solidFill>
                      <a:srgbClr val="FFFFFF"/>
                    </a:solidFill>
                  </a:tcPr>
                </a:tc>
                <a:tc>
                  <a:txBody>
                    <a:bodyPr/>
                    <a:lstStyle/>
                    <a:p>
                      <a:pPr algn="r"/>
                      <a:r>
                        <a:rPr sz="1000">
                          <a:latin typeface="Cairo"/>
                        </a:rPr>
                        <a:t>مستشفى المواساة بالمدينة</a:t>
                      </a:r>
                    </a:p>
                  </a:txBody>
                  <a:tcPr>
                    <a:solidFill>
                      <a:srgbClr val="FFFFFF"/>
                    </a:solidFill>
                  </a:tcPr>
                </a:tc>
                <a:tc>
                  <a:txBody>
                    <a:bodyPr/>
                    <a:lstStyle/>
                    <a:p>
                      <a:pPr algn="r"/>
                      <a:r>
                        <a:rPr sz="1000">
                          <a:latin typeface="Cairo"/>
                        </a:rPr>
                        <a:t>أشعة رنين مغناطيسي</a:t>
                      </a:r>
                    </a:p>
                  </a:txBody>
                  <a:tcPr>
                    <a:solidFill>
                      <a:srgbClr val="FFFFFF"/>
                    </a:solidFill>
                  </a:tcPr>
                </a:tc>
                <a:tc>
                  <a:txBody>
                    <a:bodyPr/>
                    <a:lstStyle/>
                    <a:p>
                      <a:pPr algn="r"/>
                      <a:r>
                        <a:rPr sz="1000" b="1">
                          <a:solidFill>
                            <a:srgbClr val="6B1D3A"/>
                          </a:solidFill>
                          <a:latin typeface="Cairo"/>
                        </a:rPr>
                        <a:t>١,٩٢٥ ريال</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حوكمة المساعدات</a:t>
            </a:r>
          </a:p>
          <a:p>
            <a:pPr algn="r"/>
            <a:r>
              <a:rPr sz="2200" b="1">
                <a:solidFill>
                  <a:srgbClr val="6B1D3A"/>
                </a:solidFill>
                <a:latin typeface="Cairo"/>
              </a:rPr>
              <a:t>تحليل الحالات غير المقبولة (١٤ حالة) والتوصيات</a:t>
            </a:r>
          </a:p>
        </p:txBody>
      </p:sp>
      <p:sp>
        <p:nvSpPr>
          <p:cNvPr id="3" name="Rounded Rectangle 2"/>
          <p:cNvSpPr/>
          <p:nvPr/>
        </p:nvSpPr>
        <p:spPr>
          <a:xfrm>
            <a:off x="731520" y="1645920"/>
            <a:ext cx="521208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783080"/>
            <a:ext cx="4937760" cy="1828800"/>
          </a:xfrm>
          <a:prstGeom prst="rect">
            <a:avLst/>
          </a:prstGeom>
          <a:noFill/>
        </p:spPr>
        <p:txBody>
          <a:bodyPr wrap="square">
            <a:spAutoFit/>
          </a:bodyPr>
          <a:lstStyle/>
          <a:p>
            <a:pPr algn="r"/>
            <a:r>
              <a:rPr sz="1150" b="1">
                <a:solidFill>
                  <a:srgbClr val="C0392B"/>
                </a:solidFill>
                <a:latin typeface="Cairo"/>
              </a:rPr>
              <a:t>انتهاء صلاحية الإقامة (٧ حالات - ٥٠٪)
</a:t>
            </a:r>
          </a:p>
          <a:p>
            <a:pPr algn="r"/>
            <a:r>
              <a:rPr sz="1000">
                <a:solidFill>
                  <a:srgbClr val="242220"/>
                </a:solidFill>
                <a:latin typeface="Cairo"/>
              </a:rPr>
              <a:t>بسمة هارون، سيد الأمين، فريدة عظيم، عطور عباس، هاجر الصادق، عبدالله دياب، أحمد خير
• التوصية: التنسيق مع المانحين لقبول الحالات الإنسانية الحرجة وتعديل اللائحة.</a:t>
            </a:r>
          </a:p>
        </p:txBody>
      </p:sp>
      <p:sp>
        <p:nvSpPr>
          <p:cNvPr id="5" name="Rounded Rectangle 4"/>
          <p:cNvSpPr/>
          <p:nvPr/>
        </p:nvSpPr>
        <p:spPr>
          <a:xfrm>
            <a:off x="6172200" y="1645920"/>
            <a:ext cx="521208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0" y="1783080"/>
            <a:ext cx="4937760" cy="1828800"/>
          </a:xfrm>
          <a:prstGeom prst="rect">
            <a:avLst/>
          </a:prstGeom>
          <a:noFill/>
        </p:spPr>
        <p:txBody>
          <a:bodyPr wrap="square">
            <a:spAutoFit/>
          </a:bodyPr>
          <a:lstStyle/>
          <a:p>
            <a:pPr algn="r"/>
            <a:r>
              <a:rPr sz="1150" b="1">
                <a:solidFill>
                  <a:srgbClr val="6B1D3A"/>
                </a:solidFill>
                <a:latin typeface="Cairo"/>
              </a:rPr>
              <a:t>تغطية كاملة من جمعية أخرى (حالتان - ١٤.٣٪)
</a:t>
            </a:r>
          </a:p>
          <a:p>
            <a:pPr algn="r"/>
            <a:r>
              <a:rPr sz="1000">
                <a:solidFill>
                  <a:srgbClr val="242220"/>
                </a:solidFill>
                <a:latin typeface="Cairo"/>
              </a:rPr>
              <a:t>هديباء الجهني (مياه بيضاء)، علي قايد (شرايين)
• التوصية: تفعيل الربط الإلكتروني لتفادي الازدواجية وسرعة توجيه الدعم لمرضى آخرين.</a:t>
            </a:r>
          </a:p>
        </p:txBody>
      </p:sp>
      <p:sp>
        <p:nvSpPr>
          <p:cNvPr id="7" name="Rounded Rectangle 6"/>
          <p:cNvSpPr/>
          <p:nvPr/>
        </p:nvSpPr>
        <p:spPr>
          <a:xfrm>
            <a:off x="731520" y="3931920"/>
            <a:ext cx="521208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069080"/>
            <a:ext cx="4937760" cy="1828800"/>
          </a:xfrm>
          <a:prstGeom prst="rect">
            <a:avLst/>
          </a:prstGeom>
          <a:noFill/>
        </p:spPr>
        <p:txBody>
          <a:bodyPr wrap="square">
            <a:spAutoFit/>
          </a:bodyPr>
          <a:lstStyle/>
          <a:p>
            <a:pPr algn="r"/>
            <a:r>
              <a:rPr sz="1150" b="1">
                <a:solidFill>
                  <a:srgbClr val="6B1D3A"/>
                </a:solidFill>
                <a:latin typeface="Cairo"/>
              </a:rPr>
              <a:t>أخطاء بالتقرير الطبي والتواريخ (حالتان - ١٤.٣٪)
</a:t>
            </a:r>
          </a:p>
          <a:p>
            <a:pPr algn="r"/>
            <a:r>
              <a:rPr sz="1000">
                <a:solidFill>
                  <a:srgbClr val="242220"/>
                </a:solidFill>
                <a:latin typeface="Cairo"/>
              </a:rPr>
              <a:t>ريم فواز (ورم ليفي)، جوهرة خان (أخطاء تواريخ)
• التوصية: توجيه المستفيدين لتصحيح المستندات الطبية وإعادة الرفع.</a:t>
            </a:r>
          </a:p>
        </p:txBody>
      </p:sp>
      <p:sp>
        <p:nvSpPr>
          <p:cNvPr id="9" name="Rounded Rectangle 8"/>
          <p:cNvSpPr/>
          <p:nvPr/>
        </p:nvSpPr>
        <p:spPr>
          <a:xfrm>
            <a:off x="6172200" y="3931920"/>
            <a:ext cx="5212080" cy="210312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4069080"/>
            <a:ext cx="4937760" cy="1828800"/>
          </a:xfrm>
          <a:prstGeom prst="rect">
            <a:avLst/>
          </a:prstGeom>
          <a:noFill/>
        </p:spPr>
        <p:txBody>
          <a:bodyPr wrap="square">
            <a:spAutoFit/>
          </a:bodyPr>
          <a:lstStyle/>
          <a:p>
            <a:pPr algn="r"/>
            <a:r>
              <a:rPr sz="1150" b="1">
                <a:solidFill>
                  <a:srgbClr val="6B1D3A"/>
                </a:solidFill>
                <a:latin typeface="Cairo"/>
              </a:rPr>
              <a:t>تأمين طبي ساري / انتهاء تأشيرة (٣ حالات - ٢١.٤٪)
</a:t>
            </a:r>
          </a:p>
          <a:p>
            <a:pPr algn="r"/>
            <a:r>
              <a:rPr sz="1000">
                <a:solidFill>
                  <a:srgbClr val="242220"/>
                </a:solidFill>
                <a:latin typeface="Cairo"/>
              </a:rPr>
              <a:t>فؤاد لطف (تأمين طبي)، حمزة هندية (انتهاء زيارة)، مزاهر الهادي (قيد تسليم التعميد).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التكامل والشراكات</a:t>
            </a:r>
          </a:p>
          <a:p>
            <a:pPr algn="r"/>
            <a:r>
              <a:rPr sz="2200" b="1">
                <a:solidFill>
                  <a:srgbClr val="6B1D3A"/>
                </a:solidFill>
                <a:latin typeface="Cairo"/>
              </a:rPr>
              <a:t>شبكة الشراكات الصحية والمؤسسية (٩ جهات)</a:t>
            </a:r>
          </a:p>
        </p:txBody>
      </p:sp>
      <p:sp>
        <p:nvSpPr>
          <p:cNvPr id="3" name="Rounded Rectangle 2"/>
          <p:cNvSpPr/>
          <p:nvPr/>
        </p:nvSpPr>
        <p:spPr>
          <a:xfrm>
            <a:off x="731520" y="164592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737360"/>
            <a:ext cx="3200400" cy="1188720"/>
          </a:xfrm>
          <a:prstGeom prst="rect">
            <a:avLst/>
          </a:prstGeom>
          <a:noFill/>
        </p:spPr>
        <p:txBody>
          <a:bodyPr wrap="square">
            <a:spAutoFit/>
          </a:bodyPr>
          <a:lstStyle/>
          <a:p>
            <a:pPr algn="r"/>
            <a:r>
              <a:rPr sz="1100" b="1">
                <a:solidFill>
                  <a:srgbClr val="6B1D3A"/>
                </a:solidFill>
                <a:latin typeface="Cairo"/>
              </a:rPr>
              <a:t>المستشفى السعودي الألماني
</a:t>
            </a:r>
          </a:p>
          <a:p>
            <a:pPr algn="r"/>
            <a:r>
              <a:rPr sz="950">
                <a:solidFill>
                  <a:srgbClr val="6B6864"/>
                </a:solidFill>
                <a:latin typeface="Cairo"/>
              </a:rPr>
              <a:t>علاج الأورام وسرطانات الدم والمناظير التخصصية</a:t>
            </a:r>
          </a:p>
        </p:txBody>
      </p:sp>
      <p:sp>
        <p:nvSpPr>
          <p:cNvPr id="5" name="Rounded Rectangle 4"/>
          <p:cNvSpPr/>
          <p:nvPr/>
        </p:nvSpPr>
        <p:spPr>
          <a:xfrm>
            <a:off x="4343400" y="164592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60" y="1737360"/>
            <a:ext cx="3200400" cy="1188720"/>
          </a:xfrm>
          <a:prstGeom prst="rect">
            <a:avLst/>
          </a:prstGeom>
          <a:noFill/>
        </p:spPr>
        <p:txBody>
          <a:bodyPr wrap="square">
            <a:spAutoFit/>
          </a:bodyPr>
          <a:lstStyle/>
          <a:p>
            <a:pPr algn="r"/>
            <a:r>
              <a:rPr sz="1100" b="1">
                <a:solidFill>
                  <a:srgbClr val="6B1D3A"/>
                </a:solidFill>
                <a:latin typeface="Cairo"/>
              </a:rPr>
              <a:t>مستشفى المواساة بالمدينة
</a:t>
            </a:r>
          </a:p>
          <a:p>
            <a:pPr algn="r"/>
            <a:r>
              <a:rPr sz="950">
                <a:solidFill>
                  <a:srgbClr val="6B6864"/>
                </a:solidFill>
                <a:latin typeface="Cairo"/>
              </a:rPr>
              <a:t>العمليات الجراحية المتقدمة والأشعة والرنين</a:t>
            </a:r>
          </a:p>
        </p:txBody>
      </p:sp>
      <p:sp>
        <p:nvSpPr>
          <p:cNvPr id="7" name="Rounded Rectangle 6"/>
          <p:cNvSpPr/>
          <p:nvPr/>
        </p:nvSpPr>
        <p:spPr>
          <a:xfrm>
            <a:off x="7955280" y="164592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2440" y="1737360"/>
            <a:ext cx="3200400" cy="1188720"/>
          </a:xfrm>
          <a:prstGeom prst="rect">
            <a:avLst/>
          </a:prstGeom>
          <a:noFill/>
        </p:spPr>
        <p:txBody>
          <a:bodyPr wrap="square">
            <a:spAutoFit/>
          </a:bodyPr>
          <a:lstStyle/>
          <a:p>
            <a:pPr algn="r"/>
            <a:r>
              <a:rPr sz="1100" b="1">
                <a:solidFill>
                  <a:srgbClr val="6B1D3A"/>
                </a:solidFill>
                <a:latin typeface="Cairo"/>
              </a:rPr>
              <a:t>مدينة الملك سلمان الطبية
</a:t>
            </a:r>
          </a:p>
          <a:p>
            <a:pPr algn="r"/>
            <a:r>
              <a:rPr sz="950">
                <a:solidFill>
                  <a:srgbClr val="6B6864"/>
                </a:solidFill>
                <a:latin typeface="Cairo"/>
              </a:rPr>
              <a:t>الرعاية المرجعية التخصصية والتنويم</a:t>
            </a:r>
          </a:p>
        </p:txBody>
      </p:sp>
      <p:sp>
        <p:nvSpPr>
          <p:cNvPr id="9" name="Rounded Rectangle 8"/>
          <p:cNvSpPr/>
          <p:nvPr/>
        </p:nvSpPr>
        <p:spPr>
          <a:xfrm>
            <a:off x="731520" y="315468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246120"/>
            <a:ext cx="3200400" cy="1188720"/>
          </a:xfrm>
          <a:prstGeom prst="rect">
            <a:avLst/>
          </a:prstGeom>
          <a:noFill/>
        </p:spPr>
        <p:txBody>
          <a:bodyPr wrap="square">
            <a:spAutoFit/>
          </a:bodyPr>
          <a:lstStyle/>
          <a:p>
            <a:pPr algn="r"/>
            <a:r>
              <a:rPr sz="1100" b="1">
                <a:solidFill>
                  <a:srgbClr val="6B1D3A"/>
                </a:solidFill>
                <a:latin typeface="Cairo"/>
              </a:rPr>
              <a:t>مستشفى د. حامد الأحمدي
</a:t>
            </a:r>
          </a:p>
          <a:p>
            <a:pPr algn="r"/>
            <a:r>
              <a:rPr sz="950">
                <a:solidFill>
                  <a:srgbClr val="6B6864"/>
                </a:solidFill>
                <a:latin typeface="Cairo"/>
              </a:rPr>
              <a:t>جراحات اليوم الواحد والعيادات الاستشارية</a:t>
            </a:r>
          </a:p>
        </p:txBody>
      </p:sp>
      <p:sp>
        <p:nvSpPr>
          <p:cNvPr id="11" name="Rounded Rectangle 10"/>
          <p:cNvSpPr/>
          <p:nvPr/>
        </p:nvSpPr>
        <p:spPr>
          <a:xfrm>
            <a:off x="4343400" y="315468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246120"/>
            <a:ext cx="3200400" cy="1188720"/>
          </a:xfrm>
          <a:prstGeom prst="rect">
            <a:avLst/>
          </a:prstGeom>
          <a:noFill/>
        </p:spPr>
        <p:txBody>
          <a:bodyPr wrap="square">
            <a:spAutoFit/>
          </a:bodyPr>
          <a:lstStyle/>
          <a:p>
            <a:pPr algn="r"/>
            <a:r>
              <a:rPr sz="1100" b="1">
                <a:solidFill>
                  <a:srgbClr val="6B1D3A"/>
                </a:solidFill>
                <a:latin typeface="Cairo"/>
              </a:rPr>
              <a:t>مستشفى المدينة الوطني
</a:t>
            </a:r>
          </a:p>
          <a:p>
            <a:pPr algn="r"/>
            <a:r>
              <a:rPr sz="950">
                <a:solidFill>
                  <a:srgbClr val="6B6864"/>
                </a:solidFill>
                <a:latin typeface="Cairo"/>
              </a:rPr>
              <a:t>خدمات الطوارئ والملاحظة والتحاليل</a:t>
            </a:r>
          </a:p>
        </p:txBody>
      </p:sp>
      <p:sp>
        <p:nvSpPr>
          <p:cNvPr id="13" name="Rounded Rectangle 12"/>
          <p:cNvSpPr/>
          <p:nvPr/>
        </p:nvSpPr>
        <p:spPr>
          <a:xfrm>
            <a:off x="7955280" y="315468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2440" y="3246120"/>
            <a:ext cx="3200400" cy="1188720"/>
          </a:xfrm>
          <a:prstGeom prst="rect">
            <a:avLst/>
          </a:prstGeom>
          <a:noFill/>
        </p:spPr>
        <p:txBody>
          <a:bodyPr wrap="square">
            <a:spAutoFit/>
          </a:bodyPr>
          <a:lstStyle/>
          <a:p>
            <a:pPr algn="r"/>
            <a:r>
              <a:rPr sz="1100" b="1">
                <a:solidFill>
                  <a:srgbClr val="6B1D3A"/>
                </a:solidFill>
                <a:latin typeface="Cairo"/>
              </a:rPr>
              <a:t>مستشفى المدينة الطبي العام
</a:t>
            </a:r>
          </a:p>
          <a:p>
            <a:pPr algn="r"/>
            <a:r>
              <a:rPr sz="950">
                <a:solidFill>
                  <a:srgbClr val="6B6864"/>
                </a:solidFill>
                <a:latin typeface="Cairo"/>
              </a:rPr>
              <a:t>الفحوصات العامة ورعاية الأمراض المزمنة</a:t>
            </a:r>
          </a:p>
        </p:txBody>
      </p:sp>
      <p:sp>
        <p:nvSpPr>
          <p:cNvPr id="15" name="Rounded Rectangle 14"/>
          <p:cNvSpPr/>
          <p:nvPr/>
        </p:nvSpPr>
        <p:spPr>
          <a:xfrm>
            <a:off x="731520" y="466344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754879"/>
            <a:ext cx="3200400" cy="1188720"/>
          </a:xfrm>
          <a:prstGeom prst="rect">
            <a:avLst/>
          </a:prstGeom>
          <a:noFill/>
        </p:spPr>
        <p:txBody>
          <a:bodyPr wrap="square">
            <a:spAutoFit/>
          </a:bodyPr>
          <a:lstStyle/>
          <a:p>
            <a:pPr algn="r"/>
            <a:r>
              <a:rPr sz="1100" b="1">
                <a:solidFill>
                  <a:srgbClr val="6B1D3A"/>
                </a:solidFill>
                <a:latin typeface="Cairo"/>
              </a:rPr>
              <a:t>مستشفى واد الطبي
</a:t>
            </a:r>
          </a:p>
          <a:p>
            <a:pPr algn="r"/>
            <a:r>
              <a:rPr sz="950">
                <a:solidFill>
                  <a:srgbClr val="6B6864"/>
                </a:solidFill>
                <a:latin typeface="Cairo"/>
              </a:rPr>
              <a:t>علاج الإصابات الرياضية وجراحة العظام</a:t>
            </a:r>
          </a:p>
        </p:txBody>
      </p:sp>
      <p:sp>
        <p:nvSpPr>
          <p:cNvPr id="17" name="Rounded Rectangle 16"/>
          <p:cNvSpPr/>
          <p:nvPr/>
        </p:nvSpPr>
        <p:spPr>
          <a:xfrm>
            <a:off x="4343400" y="466344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754879"/>
            <a:ext cx="3200400" cy="1188720"/>
          </a:xfrm>
          <a:prstGeom prst="rect">
            <a:avLst/>
          </a:prstGeom>
          <a:noFill/>
        </p:spPr>
        <p:txBody>
          <a:bodyPr wrap="square">
            <a:spAutoFit/>
          </a:bodyPr>
          <a:lstStyle/>
          <a:p>
            <a:pPr algn="r"/>
            <a:r>
              <a:rPr sz="1100" b="1">
                <a:solidFill>
                  <a:srgbClr val="6B1D3A"/>
                </a:solidFill>
                <a:latin typeface="Cairo"/>
              </a:rPr>
              <a:t>شركة مداواة ورعاية الطبية
</a:t>
            </a:r>
          </a:p>
          <a:p>
            <a:pPr algn="r"/>
            <a:r>
              <a:rPr sz="950">
                <a:solidFill>
                  <a:srgbClr val="6B6864"/>
                </a:solidFill>
                <a:latin typeface="Cairo"/>
              </a:rPr>
              <a:t>توفير الأدوية والمستلزمات الطبية المنزلية</a:t>
            </a:r>
          </a:p>
        </p:txBody>
      </p:sp>
      <p:sp>
        <p:nvSpPr>
          <p:cNvPr id="19" name="Rounded Rectangle 18"/>
          <p:cNvSpPr/>
          <p:nvPr/>
        </p:nvSpPr>
        <p:spPr>
          <a:xfrm>
            <a:off x="7955280" y="4663440"/>
            <a:ext cx="3474720" cy="13716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4754879"/>
            <a:ext cx="3200400" cy="1188720"/>
          </a:xfrm>
          <a:prstGeom prst="rect">
            <a:avLst/>
          </a:prstGeom>
          <a:noFill/>
        </p:spPr>
        <p:txBody>
          <a:bodyPr wrap="square">
            <a:spAutoFit/>
          </a:bodyPr>
          <a:lstStyle/>
          <a:p>
            <a:pPr algn="r"/>
            <a:r>
              <a:rPr sz="1100" b="1">
                <a:solidFill>
                  <a:srgbClr val="6B1D3A"/>
                </a:solidFill>
                <a:latin typeface="Cairo"/>
              </a:rPr>
              <a:t>جمعية جَنَى لتأهيل المعاقات
</a:t>
            </a:r>
          </a:p>
          <a:p>
            <a:pPr algn="r"/>
            <a:r>
              <a:rPr sz="950">
                <a:solidFill>
                  <a:srgbClr val="6B6864"/>
                </a:solidFill>
                <a:latin typeface="Cairo"/>
              </a:rPr>
              <a:t>التأهيل الطبي والتكامل مع ذوي الإعاقة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رأس المال البشري</a:t>
            </a:r>
          </a:p>
          <a:p>
            <a:pPr algn="r"/>
            <a:r>
              <a:rPr sz="2200" b="1">
                <a:solidFill>
                  <a:srgbClr val="6B1D3A"/>
                </a:solidFill>
                <a:latin typeface="Cairo"/>
              </a:rPr>
              <a:t>الموارد البشرية والنمو المؤسسي</a:t>
            </a:r>
          </a:p>
        </p:txBody>
      </p:sp>
      <p:sp>
        <p:nvSpPr>
          <p:cNvPr id="3" name="Rounded Rectangle 2"/>
          <p:cNvSpPr/>
          <p:nvPr/>
        </p:nvSpPr>
        <p:spPr>
          <a:xfrm>
            <a:off x="731520" y="1645920"/>
            <a:ext cx="5212080" cy="45720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4846320" cy="4114800"/>
          </a:xfrm>
          <a:prstGeom prst="rect">
            <a:avLst/>
          </a:prstGeom>
          <a:noFill/>
        </p:spPr>
        <p:txBody>
          <a:bodyPr wrap="square">
            <a:spAutoFit/>
          </a:bodyPr>
          <a:lstStyle/>
          <a:p>
            <a:pPr algn="r"/>
            <a:r>
              <a:rPr sz="1300" b="1">
                <a:solidFill>
                  <a:srgbClr val="6B1D3A"/>
                </a:solidFill>
                <a:latin typeface="Cairo"/>
              </a:rPr>
              <a:t>الهيكل الوظيفي والكادر التنفيذي:
</a:t>
            </a:r>
          </a:p>
          <a:p>
            <a:pPr algn="r"/>
            <a:r>
              <a:rPr sz="1050">
                <a:solidFill>
                  <a:srgbClr val="242220"/>
                </a:solidFill>
                <a:latin typeface="Cairo"/>
              </a:rPr>
              <a:t>• أ. بيان سعد المحمدي: المدير التنفيذي (موظف).
</a:t>
            </a:r>
          </a:p>
          <a:p>
            <a:pPr algn="r"/>
            <a:r>
              <a:rPr sz="1050">
                <a:solidFill>
                  <a:srgbClr val="242220"/>
                </a:solidFill>
                <a:latin typeface="Cairo"/>
              </a:rPr>
              <a:t>• أ. غدير أحمد الحربي: المسؤول المالي والمشرفة على البرامج (موظفة).
</a:t>
            </a:r>
          </a:p>
          <a:p>
            <a:pPr algn="r"/>
            <a:r>
              <a:rPr sz="1050">
                <a:solidFill>
                  <a:srgbClr val="242220"/>
                </a:solidFill>
                <a:latin typeface="Cairo"/>
              </a:rPr>
              <a:t>• أ. طراد محمد سمان: سكرتير تنفيذي (موظف).
</a:t>
            </a:r>
          </a:p>
          <a:p>
            <a:pPr algn="r"/>
            <a:r>
              <a:rPr sz="1050">
                <a:solidFill>
                  <a:srgbClr val="242220"/>
                </a:solidFill>
                <a:latin typeface="Cairo"/>
              </a:rPr>
              <a:t>• أ. محمد الحسن بشير: محاسب متعاون.
</a:t>
            </a:r>
          </a:p>
          <a:p>
            <a:pPr algn="r"/>
            <a:r>
              <a:rPr sz="1050">
                <a:solidFill>
                  <a:srgbClr val="242220"/>
                </a:solidFill>
                <a:latin typeface="Cairo"/>
              </a:rPr>
              <a:t>• أ. فيصل الجهني: مسؤول علاقات وإعلام (متعاون قيد الترسيم).
</a:t>
            </a:r>
          </a:p>
          <a:p>
            <a:pPr algn="r"/>
            <a:r>
              <a:rPr sz="1050">
                <a:solidFill>
                  <a:srgbClr val="242220"/>
                </a:solidFill>
                <a:latin typeface="Cairo"/>
              </a:rPr>
              <a:t>• نسبة التوطين: ١٠٠٪ في كافة المناصب الرسمية.
</a:t>
            </a:r>
          </a:p>
        </p:txBody>
      </p:sp>
      <p:sp>
        <p:nvSpPr>
          <p:cNvPr id="5" name="Rounded Rectangle 4"/>
          <p:cNvSpPr/>
          <p:nvPr/>
        </p:nvSpPr>
        <p:spPr>
          <a:xfrm>
            <a:off x="6217920" y="1645920"/>
            <a:ext cx="5212080" cy="4572000"/>
          </a:xfrm>
          <a:prstGeom prst="roundRect">
            <a:avLst/>
          </a:prstGeom>
          <a:solidFill>
            <a:srgbClr val="6B1D3A"/>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828800"/>
            <a:ext cx="4846320" cy="4114800"/>
          </a:xfrm>
          <a:prstGeom prst="rect">
            <a:avLst/>
          </a:prstGeom>
          <a:noFill/>
        </p:spPr>
        <p:txBody>
          <a:bodyPr wrap="square">
            <a:spAutoFit/>
          </a:bodyPr>
          <a:lstStyle/>
          <a:p>
            <a:pPr algn="r"/>
            <a:r>
              <a:rPr sz="1300" b="1">
                <a:solidFill>
                  <a:srgbClr val="C9A96E"/>
                </a:solidFill>
                <a:latin typeface="Cairo"/>
              </a:rPr>
              <a:t>مؤشرات التأهيل والتدريب المؤسسي:
</a:t>
            </a:r>
          </a:p>
          <a:p>
            <a:pPr algn="r"/>
            <a:r>
              <a:rPr sz="1050">
                <a:solidFill>
                  <a:srgbClr val="FFFFFF"/>
                </a:solidFill>
                <a:latin typeface="Cairo"/>
              </a:rPr>
              <a:t>• ٨ دورات تدريبية متخصصة: استفاد منها موظفان بالكادر لرفع الكفاءة المالية والإدارية (مقابل ٠ دورات في ٢٠٢٥).
</a:t>
            </a:r>
          </a:p>
          <a:p>
            <a:pPr algn="r"/>
            <a:r>
              <a:rPr sz="1050">
                <a:solidFill>
                  <a:srgbClr val="FFFFFF"/>
                </a:solidFill>
                <a:latin typeface="Cairo"/>
              </a:rPr>
              <a:t>• أنظمة الموارد البشرية: تطبيق نظام البصمة الإلكترونية وضبط الدوام والأرشفة الرقمية لكافة ملفات الموظفين.
</a:t>
            </a:r>
          </a:p>
          <a:p>
            <a:pPr algn="r"/>
            <a:r>
              <a:rPr sz="1050">
                <a:solidFill>
                  <a:srgbClr val="FFFFFF"/>
                </a:solidFill>
                <a:latin typeface="Cairo"/>
              </a:rPr>
              <a:t>• ملف التطوع: تسجيل ٤ فرص تطوعية بالنصف الأول، مع التوصية بإعادة تفعيل الفرق التطوعية لرفع العائد المجتمعي.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الاستدامة والتمويل</a:t>
            </a:r>
          </a:p>
          <a:p>
            <a:pPr algn="r"/>
            <a:r>
              <a:rPr sz="2200" b="1">
                <a:solidFill>
                  <a:srgbClr val="6B1D3A"/>
                </a:solidFill>
                <a:latin typeface="Cairo"/>
              </a:rPr>
              <a:t>تنمية الموارد ومسار طلبات المنح (٢٧ جهة)</a:t>
            </a:r>
          </a:p>
        </p:txBody>
      </p:sp>
      <p:sp>
        <p:nvSpPr>
          <p:cNvPr id="3" name="Rounded Rectangle 2"/>
          <p:cNvSpPr/>
          <p:nvPr/>
        </p:nvSpPr>
        <p:spPr>
          <a:xfrm>
            <a:off x="731520" y="1645920"/>
            <a:ext cx="3474720" cy="45720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28800"/>
            <a:ext cx="3200400" cy="4114800"/>
          </a:xfrm>
          <a:prstGeom prst="rect">
            <a:avLst/>
          </a:prstGeom>
          <a:noFill/>
        </p:spPr>
        <p:txBody>
          <a:bodyPr wrap="square">
            <a:spAutoFit/>
          </a:bodyPr>
          <a:lstStyle/>
          <a:p>
            <a:pPr algn="r"/>
            <a:r>
              <a:rPr sz="1200" b="1">
                <a:solidFill>
                  <a:srgbClr val="1E824C"/>
                </a:solidFill>
                <a:latin typeface="Cairo"/>
              </a:rPr>
              <a:t>منح مقبولة ومحققة (٤٠,٠٠٠ ريال)
</a:t>
            </a:r>
          </a:p>
          <a:p>
            <a:pPr algn="r"/>
            <a:r>
              <a:rPr sz="1000">
                <a:solidFill>
                  <a:srgbClr val="242220"/>
                </a:solidFill>
                <a:latin typeface="Cairo"/>
              </a:rPr>
              <a:t>• مؤسسة إبراهيم العنقري: ٢٠,٠٠٠ ريال.
• وقف الشيخ عبدالعزيز أبو زيد: ٢٠,٠٠٠ ريال.
(تحققتا رغم عدم اكتمال الحوكمة والقوائم حينها).</a:t>
            </a:r>
          </a:p>
        </p:txBody>
      </p:sp>
      <p:sp>
        <p:nvSpPr>
          <p:cNvPr id="5" name="Rounded Rectangle 4"/>
          <p:cNvSpPr/>
          <p:nvPr/>
        </p:nvSpPr>
        <p:spPr>
          <a:xfrm>
            <a:off x="4343400" y="1645920"/>
            <a:ext cx="3474720" cy="45720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60" y="1828800"/>
            <a:ext cx="3200400" cy="4114800"/>
          </a:xfrm>
          <a:prstGeom prst="rect">
            <a:avLst/>
          </a:prstGeom>
          <a:noFill/>
        </p:spPr>
        <p:txBody>
          <a:bodyPr wrap="square">
            <a:spAutoFit/>
          </a:bodyPr>
          <a:lstStyle/>
          <a:p>
            <a:pPr algn="r"/>
            <a:r>
              <a:rPr sz="1200" b="1">
                <a:solidFill>
                  <a:srgbClr val="D9822B"/>
                </a:solidFill>
                <a:latin typeface="Cairo"/>
              </a:rPr>
              <a:t>طلبات قيد الدراسة والمتابعة (١١ جهة)
</a:t>
            </a:r>
          </a:p>
          <a:p>
            <a:pPr algn="r"/>
            <a:r>
              <a:rPr sz="1000">
                <a:solidFill>
                  <a:srgbClr val="242220"/>
                </a:solidFill>
                <a:latin typeface="Cairo"/>
              </a:rPr>
              <a:t>• صندوق دعم الجمعيات (مشروع جودة حياة).
• أوقاف الشيخ صالح الراجحي (دفء وغذاء ٢٠٢٧).
• بنك البلاد، بنك الرياض، و ٦ شركات لحجاج الداخل.</a:t>
            </a:r>
          </a:p>
        </p:txBody>
      </p:sp>
      <p:sp>
        <p:nvSpPr>
          <p:cNvPr id="7" name="Rounded Rectangle 6"/>
          <p:cNvSpPr/>
          <p:nvPr/>
        </p:nvSpPr>
        <p:spPr>
          <a:xfrm>
            <a:off x="7955280" y="1645920"/>
            <a:ext cx="3474720" cy="4572000"/>
          </a:xfrm>
          <a:prstGeom prst="roundRect">
            <a:avLst/>
          </a:prstGeom>
          <a:solidFill>
            <a:srgbClr val="FFFFFF"/>
          </a:solidFill>
          <a:ln w="19050">
            <a:solidFill>
              <a:srgbClr val="E1DC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2440" y="1828800"/>
            <a:ext cx="3200400" cy="4114800"/>
          </a:xfrm>
          <a:prstGeom prst="rect">
            <a:avLst/>
          </a:prstGeom>
          <a:noFill/>
        </p:spPr>
        <p:txBody>
          <a:bodyPr wrap="square">
            <a:spAutoFit/>
          </a:bodyPr>
          <a:lstStyle/>
          <a:p>
            <a:pPr algn="r"/>
            <a:r>
              <a:rPr sz="1200" b="1">
                <a:solidFill>
                  <a:srgbClr val="C0392B"/>
                </a:solidFill>
                <a:latin typeface="Cairo"/>
              </a:rPr>
              <a:t>اعتذارات بسبب الموازنة أو الشروط (٨ جهات)
</a:t>
            </a:r>
          </a:p>
          <a:p>
            <a:pPr algn="r"/>
            <a:r>
              <a:rPr sz="1000">
                <a:solidFill>
                  <a:srgbClr val="242220"/>
                </a:solidFill>
                <a:latin typeface="Cairo"/>
              </a:rPr>
              <a:t>• انتهاء الموازنات: مؤسسة الماجد، مؤسسة الشاوي، شركة طيبة للاستثمار، مجموعة فنادق.
• اشتراط الحوكمة: أوقاف الضحيان، مؤسسة طلال، مؤسسة الحمدان، مؤسسة المهيدب.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7F4"/>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lgn="r"/>
            <a:r>
              <a:rPr sz="1100" b="1">
                <a:solidFill>
                  <a:srgbClr val="A68547"/>
                </a:solidFill>
                <a:latin typeface="Cairo"/>
              </a:rPr>
              <a:t>التحول المؤسسي</a:t>
            </a:r>
          </a:p>
          <a:p>
            <a:pPr algn="r"/>
            <a:r>
              <a:rPr sz="2200" b="1">
                <a:solidFill>
                  <a:srgbClr val="6B1D3A"/>
                </a:solidFill>
                <a:latin typeface="Cairo"/>
              </a:rPr>
              <a:t>الحوكمة وخارطة طريق النصف الثاني (٣ مراحل)</a:t>
            </a:r>
          </a:p>
        </p:txBody>
      </p:sp>
      <p:sp>
        <p:nvSpPr>
          <p:cNvPr id="3" name="Rounded Rectangle 2"/>
          <p:cNvSpPr/>
          <p:nvPr/>
        </p:nvSpPr>
        <p:spPr>
          <a:xfrm>
            <a:off x="731520" y="1645920"/>
            <a:ext cx="3474720" cy="4572000"/>
          </a:xfrm>
          <a:prstGeom prst="roundRect">
            <a:avLst/>
          </a:prstGeom>
          <a:solidFill>
            <a:srgbClr val="2E0B17"/>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28800"/>
            <a:ext cx="3200400" cy="4114800"/>
          </a:xfrm>
          <a:prstGeom prst="rect">
            <a:avLst/>
          </a:prstGeom>
          <a:noFill/>
        </p:spPr>
        <p:txBody>
          <a:bodyPr wrap="square">
            <a:spAutoFit/>
          </a:bodyPr>
          <a:lstStyle/>
          <a:p>
            <a:pPr algn="r"/>
            <a:r>
              <a:rPr sz="1200" b="1">
                <a:solidFill>
                  <a:srgbClr val="C9A96E"/>
                </a:solidFill>
                <a:latin typeface="Cairo"/>
              </a:rPr>
              <a:t>المرحلة الأولى (الشهر الأول)
استكمال الحوكمة ومنصة نوى
</a:t>
            </a:r>
          </a:p>
          <a:p>
            <a:pPr algn="r"/>
            <a:r>
              <a:rPr sz="1000">
                <a:solidFill>
                  <a:srgbClr val="FFFFFF"/>
                </a:solidFill>
                <a:latin typeface="Cairo"/>
              </a:rPr>
              <a:t>• استيفاء متطلبات معيار الامتثال والحوكمة.
• رفع درجة تقييم الجمعية المعتمدة.
• تفعيل منصة نوى للمنح والشراكات.
• توظيف القوائم المالية المعتمدة.</a:t>
            </a:r>
          </a:p>
        </p:txBody>
      </p:sp>
      <p:sp>
        <p:nvSpPr>
          <p:cNvPr id="5" name="Rounded Rectangle 4"/>
          <p:cNvSpPr/>
          <p:nvPr/>
        </p:nvSpPr>
        <p:spPr>
          <a:xfrm>
            <a:off x="4343400" y="1645920"/>
            <a:ext cx="3474720" cy="4572000"/>
          </a:xfrm>
          <a:prstGeom prst="roundRect">
            <a:avLst/>
          </a:prstGeom>
          <a:solidFill>
            <a:srgbClr val="2E0B17"/>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60" y="1828800"/>
            <a:ext cx="3200400" cy="4114800"/>
          </a:xfrm>
          <a:prstGeom prst="rect">
            <a:avLst/>
          </a:prstGeom>
          <a:noFill/>
        </p:spPr>
        <p:txBody>
          <a:bodyPr wrap="square">
            <a:spAutoFit/>
          </a:bodyPr>
          <a:lstStyle/>
          <a:p>
            <a:pPr algn="r"/>
            <a:r>
              <a:rPr sz="1200" b="1">
                <a:solidFill>
                  <a:srgbClr val="C9A96E"/>
                </a:solidFill>
                <a:latin typeface="Cairo"/>
              </a:rPr>
              <a:t>المرحلة الثانية (الشهر الثاني)
تنمية الموارد وبطاقة طبيبي
</a:t>
            </a:r>
          </a:p>
          <a:p>
            <a:pPr algn="r"/>
            <a:r>
              <a:rPr sz="1000">
                <a:solidFill>
                  <a:srgbClr val="FFFFFF"/>
                </a:solidFill>
                <a:latin typeface="Cairo"/>
              </a:rPr>
              <a:t>• إطلاق مبادرة «بطاقة طبيبي» للمزايا الطبية.
• تعديل لائحة المساعدات لرفع نسبة القبول.
• بناء قاعدة بيانات المانحين والأوقاف.
• استقطاب كفاءات تنمية الموارد.</a:t>
            </a:r>
          </a:p>
        </p:txBody>
      </p:sp>
      <p:sp>
        <p:nvSpPr>
          <p:cNvPr id="7" name="Rounded Rectangle 6"/>
          <p:cNvSpPr/>
          <p:nvPr/>
        </p:nvSpPr>
        <p:spPr>
          <a:xfrm>
            <a:off x="7955280" y="1645920"/>
            <a:ext cx="3474720" cy="4572000"/>
          </a:xfrm>
          <a:prstGeom prst="roundRect">
            <a:avLst/>
          </a:prstGeom>
          <a:solidFill>
            <a:srgbClr val="2E0B17"/>
          </a:solidFill>
          <a:ln w="19050">
            <a:solidFill>
              <a:srgbClr val="C9A9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2440" y="1828800"/>
            <a:ext cx="3200400" cy="4114800"/>
          </a:xfrm>
          <a:prstGeom prst="rect">
            <a:avLst/>
          </a:prstGeom>
          <a:noFill/>
        </p:spPr>
        <p:txBody>
          <a:bodyPr wrap="square">
            <a:spAutoFit/>
          </a:bodyPr>
          <a:lstStyle/>
          <a:p>
            <a:pPr algn="r"/>
            <a:r>
              <a:rPr sz="1200" b="1">
                <a:solidFill>
                  <a:srgbClr val="C9A96E"/>
                </a:solidFill>
                <a:latin typeface="Cairo"/>
              </a:rPr>
              <a:t>المرحلة الثالثة (الشهر الثالث)
الاستعداد المبكر لـ Q1 2027
</a:t>
            </a:r>
          </a:p>
          <a:p>
            <a:pPr algn="r"/>
            <a:r>
              <a:rPr sz="1000">
                <a:solidFill>
                  <a:srgbClr val="FFFFFF"/>
                </a:solidFill>
                <a:latin typeface="Cairo"/>
              </a:rPr>
              <a:t>• تجهيز الحقائب الاستثمارية للصناديق الكبرى.
• استهداف المانحين الذين أغلقت موازناتهم.
• تفعيل دور الجمعية العمومية والمجلس.
• ربط المؤشرات بالأثر الصحي والمجتمعي.</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E0B17"/>
        </a:solidFill>
        <a:effectLst/>
      </p:bgPr>
    </p:bg>
    <p:spTree>
      <p:nvGrpSpPr>
        <p:cNvPr id="1" name=""/>
        <p:cNvGrpSpPr/>
        <p:nvPr/>
      </p:nvGrpSpPr>
      <p:grpSpPr/>
      <p:sp>
        <p:nvSpPr>
          <p:cNvPr id="2" name="TextBox 1"/>
          <p:cNvSpPr txBox="1"/>
          <p:nvPr/>
        </p:nvSpPr>
        <p:spPr>
          <a:xfrm>
            <a:off x="914400" y="1371600"/>
            <a:ext cx="10362895" cy="4389120"/>
          </a:xfrm>
          <a:prstGeom prst="rect">
            <a:avLst/>
          </a:prstGeom>
          <a:noFill/>
        </p:spPr>
        <p:txBody>
          <a:bodyPr wrap="square">
            <a:spAutoFit/>
          </a:bodyPr>
          <a:lstStyle/>
          <a:p>
            <a:pPr algn="ctr"/>
            <a:r>
              <a:rPr sz="2600" b="1">
                <a:solidFill>
                  <a:srgbClr val="C9A96E"/>
                </a:solidFill>
                <a:latin typeface="Cairo"/>
              </a:rPr>
              <a:t>شكراً لثقتكم ودعمكم المستمر لرسالة جمعية طبيبي الأهلية
</a:t>
            </a:r>
          </a:p>
          <a:p>
            <a:pPr algn="ctr"/>
            <a:r>
              <a:rPr sz="1400">
                <a:solidFill>
                  <a:srgbClr val="FFFFFF"/>
                </a:solidFill>
                <a:latin typeface="Cairo"/>
              </a:rPr>
              <a:t>نسعى لمواصلة المسيرة نحو قطاع صحي غير ربحي مستدام ومؤثر في طيبة الطيبة
</a:t>
            </a:r>
          </a:p>
          <a:p>
            <a:pPr algn="ctr"/>
            <a:r>
              <a:rPr sz="1200">
                <a:solidFill>
                  <a:srgbClr val="DFCA9B"/>
                </a:solidFill>
                <a:latin typeface="Cairo"/>
              </a:rPr>
              <a:t>هاتف: 00966555606347  |  البريد: tabibi2025med@gmail.com  |  المدينة المنورة - حي الفتح
المركز الوطني لتنمية القطاع غير الربحي - ترخيص: ١٠٠٠٧٣٠٧٠٠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