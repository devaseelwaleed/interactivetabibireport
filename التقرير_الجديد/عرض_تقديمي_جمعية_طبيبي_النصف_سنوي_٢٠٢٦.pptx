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0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A96E"/>
                </a:solidFill>
                <a:latin typeface="Arial"/>
              </a:defRPr>
            </a:pPr>
            <a:r>
              <a:t>جمعية طبيبي الأهلية بالمدينة المنورة</a:t>
            </a:r>
          </a:p>
          <a:p>
            <a:pPr algn="ctr">
              <a:defRPr sz="3400" b="1">
                <a:solidFill>
                  <a:srgbClr val="FFFFFF"/>
                </a:solidFill>
                <a:latin typeface="Arial"/>
              </a:defRPr>
            </a:pPr>
            <a:r>
              <a:t>التقرير النصف سنوي الشامل لعام ٢٠٢٦م</a:t>
            </a:r>
          </a:p>
          <a:p>
            <a:pPr algn="ctr">
              <a:defRPr sz="1600" b="1">
                <a:solidFill>
                  <a:srgbClr val="C9A96E"/>
                </a:solidFill>
                <a:latin typeface="Arial"/>
              </a:defRPr>
            </a:pPr>
            <a:r>
              <a:t>«مدعم بالتدقيق الأدائي الشامل ومطابقة مستهدفات الخطة الاستراتيجية والتشغيلية»</a:t>
            </a:r>
          </a:p>
          <a:p>
            <a:br/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« ثـقـة  •  أثــر  •  اسـتـدامـة »</a:t>
            </a:r>
          </a:p>
          <a:p>
            <a:br/>
            <a:pPr algn="ctr">
              <a:defRPr sz="1250">
                <a:solidFill>
                  <a:srgbClr val="C9A96E"/>
                </a:solidFill>
                <a:latin typeface="Arial"/>
              </a:defRPr>
            </a:pPr>
            <a:r>
              <a:t>الفترة من ١ يناير إلى ٣٠ يونيو ٢٠٢٦م | ترخيص المركز الوطني لتنمية القطاع غير الربحي رقم: (١٠٠٠٧٣٠٧٠٠)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الرؤية والتمكين الوطني للقطاع الصحي غير الربحي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القيادة الرشيدة ومجلس الإدارة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own_pri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940" y="1508760"/>
            <a:ext cx="1234440" cy="1234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2880360"/>
            <a:ext cx="31089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6B1D3A"/>
                </a:solidFill>
                <a:latin typeface="Arial"/>
              </a:defRPr>
            </a:pPr>
            <a:r>
              <a:t>صاحب السمو الملكي الأمير محمد بن سلمان</a:t>
            </a:r>
          </a:p>
          <a:p>
            <a:pPr algn="ctr">
              <a:defRPr sz="1050">
                <a:solidFill>
                  <a:srgbClr val="C9A96E"/>
                </a:solidFill>
                <a:latin typeface="Arial"/>
              </a:defRPr>
            </a:pPr>
            <a:r>
              <a:t>ولي العهد رئيس مجلس الوزراء</a:t>
            </a:r>
          </a:p>
          <a:p>
            <a:br/>
            <a:pPr algn="ctr">
              <a:defRPr sz="1000" i="1">
                <a:solidFill>
                  <a:srgbClr val="2D2D2D"/>
                </a:solidFill>
                <a:latin typeface="Arial"/>
              </a:defRPr>
            </a:pPr>
            <a:r>
              <a:t>«نهدف للوصول إلى قطاع غير ربحي مهم، مبادر وداعم ومؤثر في التعليم والصحة والثقافة، وسنعتمد عليه بشكل رئيسي.»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AF8F5"/>
          </a:solidFill>
          <a:ln w="2540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ing_salm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1508760"/>
            <a:ext cx="1325880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26280" y="2880360"/>
            <a:ext cx="31089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6B1D3A"/>
                </a:solidFill>
                <a:latin typeface="Arial"/>
              </a:defRPr>
            </a:pPr>
            <a:r>
              <a:t>خادم الحرمين الشريفين الملك سلمان بن عبدالعزيز</a:t>
            </a:r>
          </a:p>
          <a:p>
            <a:pPr algn="ctr">
              <a:defRPr sz="1050">
                <a:solidFill>
                  <a:srgbClr val="C9A96E"/>
                </a:solidFill>
                <a:latin typeface="Arial"/>
              </a:defRPr>
            </a:pPr>
            <a:r>
              <a:t>ملك المملكة العربية السعودية</a:t>
            </a:r>
          </a:p>
          <a:p>
            <a:br/>
            <a:pPr algn="ctr">
              <a:defRPr sz="1000" i="1">
                <a:solidFill>
                  <a:srgbClr val="2D2D2D"/>
                </a:solidFill>
                <a:latin typeface="Arial"/>
              </a:defRPr>
            </a:pPr>
            <a:r>
              <a:t>«ما يميز هذه البلاد هو حرص قادتها على الخير والتشجيع عليه، ومؤسساتها الخيرية في مختلف المجالات.»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ince_salm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0" y="1508760"/>
            <a:ext cx="1234440" cy="1234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83880" y="2880360"/>
            <a:ext cx="31089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6B1D3A"/>
                </a:solidFill>
                <a:latin typeface="Arial"/>
              </a:defRPr>
            </a:pPr>
            <a:r>
              <a:t>صاحب السمو الملكي الأمير سلمان بن سلطان</a:t>
            </a:r>
          </a:p>
          <a:p>
            <a:pPr algn="ctr">
              <a:defRPr sz="1050">
                <a:solidFill>
                  <a:srgbClr val="C9A96E"/>
                </a:solidFill>
                <a:latin typeface="Arial"/>
              </a:defRPr>
            </a:pPr>
            <a:r>
              <a:t>أمير منطقة المدينة المنورة</a:t>
            </a:r>
          </a:p>
          <a:p>
            <a:br/>
            <a:pPr algn="ctr">
              <a:defRPr sz="1000" i="1">
                <a:solidFill>
                  <a:srgbClr val="2D2D2D"/>
                </a:solidFill>
                <a:latin typeface="Arial"/>
              </a:defRPr>
            </a:pPr>
            <a:r>
              <a:t>«نسعد بالإنجازات التي حققتها الجمعيات الأهلية بالمنطقة كشريك استراتيجي في تحسين جودة الحياة.»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نتائج قياس الأداء للنصف الأول ٢٠٢٦م وفق بطاقة الأداء المتوازن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الملخص التنفيذي والتقييم الاستراتيجي الشامل (BSC)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468880" cy="3749039"/>
          </a:xfrm>
          <a:prstGeom prst="roundRect">
            <a:avLst/>
          </a:prstGeom>
          <a:solidFill>
            <a:srgbClr val="FAF8F5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1D3A"/>
                </a:solidFill>
                <a:latin typeface="Arial"/>
              </a:defRPr>
            </a:pPr>
            <a:r>
              <a:t>محور الأثر والبرامج الطبية (٤٠٪)</a:t>
            </a:r>
          </a:p>
          <a:p>
            <a:pPr algn="ctr">
              <a:defRPr sz="2600" b="1">
                <a:solidFill>
                  <a:srgbClr val="C62828"/>
                </a:solidFill>
                <a:latin typeface="Arial"/>
              </a:defRPr>
            </a:pPr>
            <a:r>
              <a:t>١٣.٩٥٪</a:t>
            </a:r>
          </a:p>
          <a:p>
            <a:pPr algn="ctr">
              <a:defRPr sz="950">
                <a:solidFill>
                  <a:srgbClr val="2D2D2D"/>
                </a:solidFill>
                <a:latin typeface="Arial"/>
              </a:defRPr>
            </a:pPr>
            <a:r>
              <a:t>٥.٥٨ من ٤٠ نقطة</a:t>
            </a:r>
            <a:br/>
            <a:r>
              <a:t>خدمة ٧ مرضى من أصل ٣٦ ألف مستهدف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371600"/>
            <a:ext cx="2468880" cy="3749039"/>
          </a:xfrm>
          <a:prstGeom prst="roundRect">
            <a:avLst/>
          </a:prstGeom>
          <a:solidFill>
            <a:srgbClr val="FAF8F5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79" y="15087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1D3A"/>
                </a:solidFill>
                <a:latin typeface="Arial"/>
              </a:defRPr>
            </a:pPr>
            <a:r>
              <a:t>المحور المالي والموازنة (٣٠٪)</a:t>
            </a:r>
          </a:p>
          <a:p>
            <a:pPr algn="ctr">
              <a:defRPr sz="2600" b="1">
                <a:solidFill>
                  <a:srgbClr val="2E7D32"/>
                </a:solidFill>
                <a:latin typeface="Arial"/>
              </a:defRPr>
            </a:pPr>
            <a:r>
              <a:t>٦٣.٠١٪</a:t>
            </a:r>
          </a:p>
          <a:p>
            <a:pPr algn="ctr">
              <a:defRPr sz="950">
                <a:solidFill>
                  <a:srgbClr val="2D2D2D"/>
                </a:solidFill>
                <a:latin typeface="Arial"/>
              </a:defRPr>
            </a:pPr>
            <a:r>
              <a:t>١٨.٩٠ من ٣٠ نقطة</a:t>
            </a:r>
            <a:br/>
            <a:r>
              <a:t>تحصيل ٥٨٢ ألف ر.س (٧٦.٢٥٪ من H1)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2468880" cy="3749039"/>
          </a:xfrm>
          <a:prstGeom prst="roundRect">
            <a:avLst/>
          </a:prstGeom>
          <a:solidFill>
            <a:srgbClr val="FAF8F5"/>
          </a:solidFill>
          <a:ln w="254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1D3A"/>
                </a:solidFill>
                <a:latin typeface="Arial"/>
              </a:defRPr>
            </a:pPr>
            <a:r>
              <a:t>محور الشراكات والعمليات (١٥٪)</a:t>
            </a:r>
          </a:p>
          <a:p>
            <a:pPr algn="ctr">
              <a:defRPr sz="2600" b="1">
                <a:solidFill>
                  <a:srgbClr val="0288D1"/>
                </a:solidFill>
                <a:latin typeface="Arial"/>
              </a:defRPr>
            </a:pPr>
            <a:r>
              <a:t>٥٥.٠٠٪</a:t>
            </a:r>
          </a:p>
          <a:p>
            <a:pPr algn="ctr">
              <a:defRPr sz="950">
                <a:solidFill>
                  <a:srgbClr val="2D2D2D"/>
                </a:solidFill>
                <a:latin typeface="Arial"/>
              </a:defRPr>
            </a:pPr>
            <a:r>
              <a:t>٨.٢٥ من ١٥ نقطة</a:t>
            </a:r>
            <a:br/>
            <a:r>
              <a:t>تفعيل ٩ شراكات صحية ومؤسسية فاعلة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371600"/>
            <a:ext cx="2468880" cy="3749039"/>
          </a:xfrm>
          <a:prstGeom prst="roundRect">
            <a:avLst/>
          </a:prstGeom>
          <a:solidFill>
            <a:srgbClr val="FAF8F5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15087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1D3A"/>
                </a:solidFill>
                <a:latin typeface="Arial"/>
              </a:defRPr>
            </a:pPr>
            <a:r>
              <a:t>محور الحوكمة والمؤسسية (١٥٪)</a:t>
            </a:r>
          </a:p>
          <a:p>
            <a:pPr algn="ctr">
              <a:defRPr sz="2600" b="1">
                <a:solidFill>
                  <a:srgbClr val="2E7D32"/>
                </a:solidFill>
                <a:latin typeface="Arial"/>
              </a:defRPr>
            </a:pPr>
            <a:r>
              <a:t>٦٠.٠٠٪</a:t>
            </a:r>
          </a:p>
          <a:p>
            <a:pPr algn="ctr">
              <a:defRPr sz="950">
                <a:solidFill>
                  <a:srgbClr val="2D2D2D"/>
                </a:solidFill>
                <a:latin typeface="Arial"/>
              </a:defRPr>
            </a:pPr>
            <a:r>
              <a:t>٩.٠٠ من ١٥ نقطة</a:t>
            </a:r>
            <a:br/>
            <a:r>
              <a:t>١٠٠٪ توطين وتطبيق نظام قيود السحابي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8655" cy="1097280"/>
          </a:xfrm>
          <a:prstGeom prst="roundRect">
            <a:avLst/>
          </a:prstGeom>
          <a:solidFill>
            <a:srgbClr val="6B1D3A"/>
          </a:solidFill>
          <a:ln w="190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349240"/>
            <a:ext cx="1054577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نسبة الإنجاز الاستراتيجي الإجمالية الموزونة: ٤١.٧٣٪  |  التقييم العام المعتمد: يحتاج إلى تحسين جذري وإعادة ضبط مسار</a:t>
            </a:r>
          </a:p>
          <a:p>
            <a:pPr algn="ctr">
              <a:defRPr sz="1100">
                <a:solidFill>
                  <a:srgbClr val="C9A96E"/>
                </a:solidFill>
                <a:latin typeface="Arial"/>
              </a:defRPr>
            </a:pPr>
            <a:r>
              <a:t>حالة الأهداف: ٤ أهداف مكتملة  |  هدفان قيد التنفيذ  |  ٤ أهداف متأخرة  |  ٤ أهداف متعثرة تماماً أو لم تبدأ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مقارنة تفصيلية لمستهدفات عام ٢٠٢٦م المعتمدة وما تحقق على أرض الواقع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مصفوفة مطابقة الخطة الاستراتيجية بالمنجز الفعلي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6172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المؤشر الاستراتيجي المعتمد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المستهدف السنوي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مستهدف H1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المنجز الفعلي H1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نسبة الإنجاز H1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الحالة المعتمدة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إجمالي الإيرادات الكلية (المعدلة)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١,٥٢٧,٠٠٠ ر.س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٧٦٣,٥٠٠ ر.س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٥٨٢,١٦٧.٥٢ ر.س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٧٦.٢٥٪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متقدم وجيد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إيرادات الموازنة التشغيلية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١,٥٢٧,٠٠٠ ر.س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١,٥٢٧,٠٠٠ ر.س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٥٨٢,١٦٧.٥٢ ر.س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٣٨.١٢٪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متأخر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المساعدات العلاجية المباشرة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١,٥٠٠,٠٠٠ ر.س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٧٥٠,٠٠٠ ر.س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٢٠٨,٦٠٥.٠٠ ر.س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٢٧.٨١٪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متأخر حرِج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عدد المستفيدين المخدومين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٣٦,٦٠٦ مستفيد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١٨,٣٠٣ مستفيد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٧ مستفيدين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٠.٠٣٨٪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متعثر تماماً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الاستشارات الطبية والدوائية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١,٢٠٠ استشارة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٦٠٠ استشارة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٠ استشارة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٠.٠٠٪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لم يبدأ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عقد الشراكات الصحية الفاعلة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٩ شراكات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٩ شراكات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٩ شراكات مفعلة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١٠٠.٠٠٪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مكتمل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توطين الكادر وتطبيق قيود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١٠٠٪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١٠٠٪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١٠٠٪ توطين + قيود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١٠٠.٠٠٪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مكتمل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تحليل مصادر الدخل ومقارنة الأداء المالي بالنصف المقابل من العام السابق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الأداء المالي ونمو الإيرادات (H1 2026 vs H1 2025)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65836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/>
                <a:gridCol w="1316736"/>
                <a:gridCol w="1316736"/>
                <a:gridCol w="1316736"/>
                <a:gridCol w="1316736"/>
              </a:tblGrid>
              <a:tr h="617220"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بند الإيراد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H1 2026 (ريال)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H1 2025 (ريال)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التغير (ريال)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نسبة النمو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الزكاة (أموال مقيدة)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٧٠,٠٠٠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٨٠,٠٠٠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-١٠,٠٠٠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-١٣٪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علاج المرضى (مقيد)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٧٥,٠٠٠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٢٥,٠٠٠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+٥٠,٠٠٠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+٢٠٠٪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المتجر الإلكتروني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١٠,٤٦٩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١٢٤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+١٠,٣٤٥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+٨,٣٤٣٪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منصة تبرع الوطنية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١,٢٠٣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١٣,٧٨٦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-١٢,٥٨٣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-٩١٪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تبرعات ودعم عام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٤٠٧,٤٩٥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٦٢,٥٦٤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+٣٤٤,٩٣١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+٥٥١٪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رسوم العضوية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١٨,٠٠٠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١٨,٠٠٠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٠٪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الإجمالي العام للإيرادات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٥٨٢,١٦٧.٥٢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١٩٩,٤٧٤.٠٠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+٣٨٢,٦٩٣.٥٢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+١٩٢٪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589520" y="1371600"/>
            <a:ext cx="3870655" cy="4937760"/>
          </a:xfrm>
          <a:prstGeom prst="roundRect">
            <a:avLst/>
          </a:prstGeom>
          <a:solidFill>
            <a:srgbClr val="FAF8F5"/>
          </a:solidFill>
          <a:ln w="190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08760"/>
            <a:ext cx="3504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B1D3A"/>
                </a:solidFill>
                <a:latin typeface="Arial"/>
              </a:defRPr>
            </a:pPr>
            <a:r>
              <a:t>مؤشرات المركز المالي والسيولة:</a:t>
            </a:r>
          </a:p>
          <a:p>
            <a:br/>
            <a:pPr>
              <a:defRPr sz="1050">
                <a:solidFill>
                  <a:srgbClr val="2D2D2D"/>
                </a:solidFill>
                <a:latin typeface="Arial"/>
              </a:defRPr>
            </a:pPr>
            <a:r>
              <a:t>• إجمالي النقدية بالبنوك: ١,٠٠١,٧٥٤ ريال</a:t>
            </a:r>
            <a:br/>
            <a:r>
              <a:t>  - البنك الأهلي: ٩٣٠,٧٠٢ ريال</a:t>
            </a:r>
            <a:br/>
            <a:r>
              <a:t>  - مصرف الراجحي: ٧١,٠٥٢ ريال</a:t>
            </a:r>
            <a:br/>
            <a:br/>
            <a:r>
              <a:t>• هيكل الأموال المتاحة:</a:t>
            </a:r>
            <a:br/>
            <a:r>
              <a:t>  - أموال مقيدة (زكاة وعلاج): ٣٦٧,٠٩٣ ريال</a:t>
            </a:r>
            <a:br/>
            <a:r>
              <a:t>  - أموال غير مقيدة: ٦٣٤,٦٦١ ريال</a:t>
            </a:r>
            <a:br/>
            <a:br/>
            <a:r>
              <a:t>• كفاية الاحتياطي النقدي: تغطية المصروفات التشغيلية لمدة ١٢ شهراً.</a:t>
            </a:r>
            <a:br/>
            <a:br/>
            <a:r>
              <a:t>• مخاطر التركز: تبرع واحد من فاعل خير بـ ٢٥٠ ألف ريال يمثل ٤٣٪ من إجمالي الدخل.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تحليل نسب الصرف الفعلي مقارنة بالمستهدف المعتمد بالموازنة التقديرية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تنفيذ الموازنة التقديرية لعام ٢٠٢٦م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493776"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بند الموازنة التقديرية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المستهدف التقديري (ريال)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المحقق / المنصرف الفعلي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نسبة الإنجاز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التحليل المالي والدلالة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التبرعات والدعم العام (الإيرادات)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١,٥٢٧,٠٠٠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٥٨٢,١٦٧.٥٢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٣٨.١٢٪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تحقيق ٣٨٪ من الموازنة المستهدفة بنمو ١٩٢٪ عن ٢٠٢٥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المساعدات العلاجية المباشرة للمرضى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٧٥٠,٠٠٠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٢٠٨,٦٠٥.٠٠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٢٧.٨١٪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صرف ٢٨٪ فقط لوجود تشدد في شروط قبول الحالات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الرواتب والأجور المباشرة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٤٧٢,٠٠٠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١٤٤,٤٠٥.٠٠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٣٠.٥٩٪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انضباط عالي وصرف أجور ٣ موظفين ومحاسب متعاون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المصروفات العمومية والتشغيلية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١٤٢,٣٠٠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١٠٩,٨٦٩.٠٠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٧٧.٢١٪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تشمل إيجار المقر والكهرباء والرسوم ونظام قيود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التطوير المالي والإداري والحوكمة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٤١,٠٠٠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٠.٠٠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٠.٠٠٪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معلق لحين اعتماد الفريق الاستشاري للامتثال ونوى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الحملة الإعلامية والتسويق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٣٠,٠٠٠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٠.٠٠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٠.٠٠٪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لم تُصرف مخصصات إعلامية مباشرة بالنصف الأول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شراء الأصول والتجهيزات الثابتة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١٩,٤٥٠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١٥,٦٢٠.٨٠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٨٠.٣١٪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تأثيث المقر الجديد وشراء أجهزة حاسب وطابعات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إجمالي موازنة الإيرادات التقديرية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١,٥٢٧,٠٠٠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٥٨٢,١٦٧.٥٢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٣٨.١٢٪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تحقيق ٧٦.٢٥٪ من مستهدف H1 (٥٨٢ ألف من ٧٦٣ ألف)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إجمالي موازنة المصروفات التقديرية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١,٤٥٤,٧٥٠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٢٤٩,٢٧٤.٠٠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2D2D"/>
                          </a:solidFill>
                          <a:latin typeface="Arial"/>
                        </a:defRPr>
                      </a:pPr>
                      <a:r>
                        <a:t>١٧.١٣٪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تنفيذ ٣٤.٢٧٪ من موازنة النصف التشغيلية بانضباط تام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تفصيل بنود المصاريف الإدارية والوفر السنوي المحقق بالنصف الأول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المصروفات التشغيلية وترشيد النفقات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B1D3A"/>
                </a:solidFill>
                <a:latin typeface="Arial"/>
              </a:defRPr>
            </a:pPr>
            <a:r>
              <a:t>إيجار المقر الجديد : ٦٣,٣٣٣ ر.س</a:t>
            </a:r>
          </a:p>
          <a:p>
            <a:br/>
            <a:pPr algn="r">
              <a:defRPr sz="1100">
                <a:solidFill>
                  <a:srgbClr val="2D2D2D"/>
                </a:solidFill>
                <a:latin typeface="Arial"/>
              </a:defRPr>
            </a:pPr>
            <a:r>
              <a:t>سداد إيجار المقر الجديد (وفر سنوي ٢٥,٠٠٠ ريال مقارنة بالمقر السابق).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B1D3A"/>
                </a:solidFill>
                <a:latin typeface="Arial"/>
              </a:defRPr>
            </a:pPr>
            <a:r>
              <a:t>التأمينات الاجتماعية : ١٤,٧٦٨ ر.س</a:t>
            </a:r>
          </a:p>
          <a:p>
            <a:br/>
            <a:pPr algn="r">
              <a:defRPr sz="1100">
                <a:solidFill>
                  <a:srgbClr val="2D2D2D"/>
                </a:solidFill>
                <a:latin typeface="Arial"/>
              </a:defRPr>
            </a:pPr>
            <a:r>
              <a:t>سداد الاشتراكات الرسمية لكافة الموظفين السعوديين بانتظام تام.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B1D3A"/>
                </a:solidFill>
                <a:latin typeface="Arial"/>
              </a:defRPr>
            </a:pPr>
            <a:r>
              <a:t>أجور المتعاونين والتطوير : ١٦,٠٠٠ ر.س</a:t>
            </a:r>
          </a:p>
          <a:p>
            <a:br/>
            <a:pPr algn="r">
              <a:defRPr sz="1100">
                <a:solidFill>
                  <a:srgbClr val="2D2D2D"/>
                </a:solidFill>
                <a:latin typeface="Arial"/>
              </a:defRPr>
            </a:pPr>
            <a:r>
              <a:t>١٣ ألف أجور محاسب ومتعاونين + ٣ آلاف لتطوير الموقع الإلكتروني.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6B1D3A"/>
                </a:solidFill>
                <a:latin typeface="Arial"/>
              </a:defRPr>
            </a:pPr>
            <a:r>
              <a:t>المحاسب القانوني والكهرباء : ٨,٤٦٧ ر.س</a:t>
            </a:r>
          </a:p>
          <a:p>
            <a:br/>
            <a:pPr algn="r">
              <a:defRPr sz="1100">
                <a:solidFill>
                  <a:srgbClr val="2D2D2D"/>
                </a:solidFill>
                <a:latin typeface="Arial"/>
              </a:defRPr>
            </a:pPr>
            <a:r>
              <a:t>٤,٦٠٠ أتعاب تدقيق محاسبي + ٣,٨٦٧ فواتير كهرباء للمقر الجديد.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تفصيل الدعم العلاجي المباشر للحالات السبع المعتمدة خلال النصف الأول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البرامج الطبية والحالات المدعومة (برنامج جودة حياة)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م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اسم المستفيد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التشخيص الطبي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المستشفى المعالج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مبلغ الدعم (ريال)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نسبة التحسن والرضا</a:t>
                      </a:r>
                    </a:p>
                  </a:txBody>
                  <a:tcPr>
                    <a:solidFill>
                      <a:srgbClr val="6B1D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١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فايز أحمد عبدالعزيز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سرطان الدم (أورام دم معقدة)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المستشفى السعودي الألماني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١٥٠,٠٠٠.٠٠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تحسن كامل (١٠٠٪)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زينب عمر علي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سرطان نخر العظم التخصصي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المستشفى السعودي الألماني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٣٠,٠٠٠.٠٠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تحسن كامل (١٠٠٪)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٣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كندفة محمد عتبة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تنويم وعلاج ورعاية ملاحظة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مدينة الملك سلمان الطبية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٧,٠٠٠.٠٠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تحسن كامل (١٠٠٪)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شوق حسن الأنور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منظار جراحي استكشافي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المستشفى السعودي الألماني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٧,٠٠٠.٠٠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تحسن كامل (١٠٠٪)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٥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سامية سليمان محمد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استئصال كتلة من الصدر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مستشفى المواساة بالمدينة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٦,٣٥٠.٠٠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نجاح العملية (١٠٠٪)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زبيدة شمس الدين خاتم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استئصال ورم بالقولون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المستشفى السعودي الألماني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٦,٣٣٠.٠٠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تحسن كامل (١٠٠٪)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٧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محمد أحمد الشرفي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أشعة رنين مغناطيسي دقيقة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مستشفى المواساة بالمدينة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١,٩٢٥.٠٠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Arial"/>
                        </a:defRPr>
                      </a:pPr>
                      <a:r>
                        <a:t>اكتمال الفحص (١٠٠٪)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الإجمالي العام للدعم الطبي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٧ حالات علاجية تخصصية كبرى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مستشفيات مرجعية بالمدينة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٢٠٨,٦٠٥.٠٠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6B1D3A"/>
                          </a:solidFill>
                          <a:latin typeface="Arial"/>
                        </a:defRPr>
                      </a:pPr>
                      <a:r>
                        <a:t>متوسط الكلفة: ٢٩,٨٠١ ر.س</a:t>
                      </a:r>
                    </a:p>
                  </a:txBody>
                  <a:tcPr>
                    <a:solidFill>
                      <a:srgbClr val="F0EB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أسباب الرفض ومقترحات تعديل اللائحة لرفع نسبة قبول المرضى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تحليل الحالات غير المقبولة (١٤ حالة) وحوكمة الصرف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FAF8F5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50" b="1">
                <a:solidFill>
                  <a:srgbClr val="6B1D3A"/>
                </a:solidFill>
                <a:latin typeface="Arial"/>
              </a:defRPr>
            </a:pPr>
            <a:r>
              <a:t>انتهاء صلاحية الإقامة (٧ حالات - ٥٠٪)</a:t>
            </a:r>
          </a:p>
          <a:p>
            <a:br/>
            <a:pPr algn="r">
              <a:defRPr sz="1000">
                <a:solidFill>
                  <a:srgbClr val="2D2D2D"/>
                </a:solidFill>
                <a:latin typeface="Arial"/>
              </a:defRPr>
            </a:pPr>
            <a:r>
              <a:t>الحالات: بسمة هارون، سيد الأمين، فريدة عظيم، عطور عباس، هاجر الصادق، عبدالله دياب، أحمد خير.</a:t>
            </a:r>
            <a:br/>
            <a:r>
              <a:t>• التوصية: وضع استثناءات للحالات الإنسانية الحرجة بموافقة المجلس.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FAF8F5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50" b="1">
                <a:solidFill>
                  <a:srgbClr val="6B1D3A"/>
                </a:solidFill>
                <a:latin typeface="Arial"/>
              </a:defRPr>
            </a:pPr>
            <a:r>
              <a:t>تغطية كاملة من جمعية أخرى (حالتان - ١٤.٣٪)</a:t>
            </a:r>
          </a:p>
          <a:p>
            <a:br/>
            <a:pPr algn="r">
              <a:defRPr sz="1000">
                <a:solidFill>
                  <a:srgbClr val="2D2D2D"/>
                </a:solidFill>
                <a:latin typeface="Arial"/>
              </a:defRPr>
            </a:pPr>
            <a:r>
              <a:t>الحالات: هديباء الجهني (مياه بيضاء)، علي قايد (شرايين).</a:t>
            </a:r>
            <a:br/>
            <a:r>
              <a:t>• التوصية: تفعيل الربط الإلكتروني لتفادي الازدواجية وسرعة توجيه الدعم لمرضى آخرين.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AF8F5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50" b="1">
                <a:solidFill>
                  <a:srgbClr val="6B1D3A"/>
                </a:solidFill>
                <a:latin typeface="Arial"/>
              </a:defRPr>
            </a:pPr>
            <a:r>
              <a:t>أخطاء بالتقرير الطبي والتواريخ (حالتان - ١٤.٣٪)</a:t>
            </a:r>
          </a:p>
          <a:p>
            <a:br/>
            <a:pPr algn="r">
              <a:defRPr sz="1000">
                <a:solidFill>
                  <a:srgbClr val="2D2D2D"/>
                </a:solidFill>
                <a:latin typeface="Arial"/>
              </a:defRPr>
            </a:pPr>
            <a:r>
              <a:t>الحالات: ريم فواز (ورم ليفي)، جوهرة خان (أخطاء تواريخ).</a:t>
            </a:r>
            <a:br/>
            <a:r>
              <a:t>• التوصية: توجيه المستفيدين لتصحيح المستندات الطبية وإعادة الرفع.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AF8F5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50" b="1">
                <a:solidFill>
                  <a:srgbClr val="6B1D3A"/>
                </a:solidFill>
                <a:latin typeface="Arial"/>
              </a:defRPr>
            </a:pPr>
            <a:r>
              <a:t>تأمين طبي ساري / انتهاء تأشيرة (٣ حالات - ٢١.٤٪)</a:t>
            </a:r>
          </a:p>
          <a:p>
            <a:br/>
            <a:pPr algn="r">
              <a:defRPr sz="1000">
                <a:solidFill>
                  <a:srgbClr val="2D2D2D"/>
                </a:solidFill>
                <a:latin typeface="Arial"/>
              </a:defRPr>
            </a:pPr>
            <a:r>
              <a:t>الحالات: فؤاد لطف (تأمين طبي)، حمزة هندية (انتهاء زيارة)، مزاهر الهادي (قيد تسليم التعميد).</a:t>
            </a:r>
            <a:br/>
            <a:r>
              <a:t>• التوصية: تسريع مسارات دراسة الحالة واستكمال المتطلبات.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شبكة التحالفات الطبية لتغطية الفحوصات والعمليات الجراحية والتأهيل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منظومة الشراكات الصحية والمؤسسية (٩ جهات)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146304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6B1D3A"/>
                </a:solidFill>
                <a:latin typeface="Arial"/>
              </a:defRPr>
            </a:pPr>
            <a:r>
              <a:t>المستشفى السعودي الألماني</a:t>
            </a:r>
          </a:p>
          <a:p>
            <a:pPr algn="ctr">
              <a:defRPr sz="950">
                <a:solidFill>
                  <a:srgbClr val="646464"/>
                </a:solidFill>
                <a:latin typeface="Arial"/>
              </a:defRPr>
            </a:pPr>
            <a:r>
              <a:t>علاج الأورام وسرطانات الدم والمناظير التخصصية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146304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5087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6B1D3A"/>
                </a:solidFill>
                <a:latin typeface="Arial"/>
              </a:defRPr>
            </a:pPr>
            <a:r>
              <a:t>مستشفى المواساة بالمدينة</a:t>
            </a:r>
          </a:p>
          <a:p>
            <a:pPr algn="ctr">
              <a:defRPr sz="950">
                <a:solidFill>
                  <a:srgbClr val="646464"/>
                </a:solidFill>
                <a:latin typeface="Arial"/>
              </a:defRPr>
            </a:pPr>
            <a:r>
              <a:t>العمليات الجراحية المتقدمة والأشعة والرنين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146304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5087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6B1D3A"/>
                </a:solidFill>
                <a:latin typeface="Arial"/>
              </a:defRPr>
            </a:pPr>
            <a:r>
              <a:t>مدينة الملك سلمان الطبية</a:t>
            </a:r>
          </a:p>
          <a:p>
            <a:pPr algn="ctr">
              <a:defRPr sz="950">
                <a:solidFill>
                  <a:srgbClr val="646464"/>
                </a:solidFill>
                <a:latin typeface="Arial"/>
              </a:defRPr>
            </a:pPr>
            <a:r>
              <a:t>الرعاية المرجعية التخصصية والتنويم الطبي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3383280" cy="146304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6B1D3A"/>
                </a:solidFill>
                <a:latin typeface="Arial"/>
              </a:defRPr>
            </a:pPr>
            <a:r>
              <a:t>مستشفى د. حامد الأحمدي</a:t>
            </a:r>
          </a:p>
          <a:p>
            <a:pPr algn="ctr">
              <a:defRPr sz="950">
                <a:solidFill>
                  <a:srgbClr val="646464"/>
                </a:solidFill>
                <a:latin typeface="Arial"/>
              </a:defRPr>
            </a:pPr>
            <a:r>
              <a:t>جراحات اليوم الواحد والعيادات الاستشارية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108960"/>
            <a:ext cx="3383280" cy="146304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246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6B1D3A"/>
                </a:solidFill>
                <a:latin typeface="Arial"/>
              </a:defRPr>
            </a:pPr>
            <a:r>
              <a:t>مستشفى المدينة الوطني</a:t>
            </a:r>
          </a:p>
          <a:p>
            <a:pPr algn="ctr">
              <a:defRPr sz="950">
                <a:solidFill>
                  <a:srgbClr val="646464"/>
                </a:solidFill>
                <a:latin typeface="Arial"/>
              </a:defRPr>
            </a:pPr>
            <a:r>
              <a:t>خدمات الطوارئ والملاحظة والتحاليل الدقيقة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108960"/>
            <a:ext cx="3383280" cy="146304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3246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6B1D3A"/>
                </a:solidFill>
                <a:latin typeface="Arial"/>
              </a:defRPr>
            </a:pPr>
            <a:r>
              <a:t>مستشفى المدينة الطبي العام</a:t>
            </a:r>
          </a:p>
          <a:p>
            <a:pPr algn="ctr">
              <a:defRPr sz="950">
                <a:solidFill>
                  <a:srgbClr val="646464"/>
                </a:solidFill>
                <a:latin typeface="Arial"/>
              </a:defRPr>
            </a:pPr>
            <a:r>
              <a:t>الفحوصات العامة ورعاية الأمراض المزمنة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46320"/>
            <a:ext cx="3383280" cy="146304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983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6B1D3A"/>
                </a:solidFill>
                <a:latin typeface="Arial"/>
              </a:defRPr>
            </a:pPr>
            <a:r>
              <a:t>مستشفى واد الطبي</a:t>
            </a:r>
          </a:p>
          <a:p>
            <a:pPr algn="ctr">
              <a:defRPr sz="950">
                <a:solidFill>
                  <a:srgbClr val="646464"/>
                </a:solidFill>
                <a:latin typeface="Arial"/>
              </a:defRPr>
            </a:pPr>
            <a:r>
              <a:t>علاج الإصابات الرياضية وجراحة العظام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846320"/>
            <a:ext cx="3383280" cy="146304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983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6B1D3A"/>
                </a:solidFill>
                <a:latin typeface="Arial"/>
              </a:defRPr>
            </a:pPr>
            <a:r>
              <a:t>شركة مداواة ورعاية الطبية</a:t>
            </a:r>
          </a:p>
          <a:p>
            <a:pPr algn="ctr">
              <a:defRPr sz="950">
                <a:solidFill>
                  <a:srgbClr val="646464"/>
                </a:solidFill>
                <a:latin typeface="Arial"/>
              </a:defRPr>
            </a:pPr>
            <a:r>
              <a:t>توفير الأدوية والمستلزمات الطبية المنزلية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846320"/>
            <a:ext cx="3383280" cy="146304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4983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6B1D3A"/>
                </a:solidFill>
                <a:latin typeface="Arial"/>
              </a:defRPr>
            </a:pPr>
            <a:r>
              <a:t>جمعية جَنَى لتأهيل المعاقات</a:t>
            </a:r>
          </a:p>
          <a:p>
            <a:pPr algn="ctr">
              <a:defRPr sz="950">
                <a:solidFill>
                  <a:srgbClr val="646464"/>
                </a:solidFill>
                <a:latin typeface="Arial"/>
              </a:defRPr>
            </a:pPr>
            <a:r>
              <a:t>التأهيل الطبي والتكامل لرعاية ذوي الإعاقة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الهيكل التنفيذي، التوطين بنسبة ١٠٠٪، وتأهيل وتدريب الكوادر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رأس المال البشري والنمو المؤسسي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B1D3A"/>
                </a:solidFill>
                <a:latin typeface="Arial"/>
              </a:defRPr>
            </a:pPr>
            <a:r>
              <a:t>الهيكل الوظيفي والكادر التنفيذي:</a:t>
            </a:r>
          </a:p>
          <a:p>
            <a:br/>
            <a:pPr>
              <a:defRPr sz="1100">
                <a:solidFill>
                  <a:srgbClr val="2D2D2D"/>
                </a:solidFill>
                <a:latin typeface="Arial"/>
              </a:defRPr>
            </a:pPr>
            <a:r>
              <a:t>• أ. بيان سعد المحمدي: المدير التنفيذي (موظف رسمي).</a:t>
            </a:r>
            <a:br/>
            <a:r>
              <a:t>• أ. غدير أحمد الحربي: المسؤول المالي والمشرفة على البرامج.</a:t>
            </a:r>
            <a:br/>
            <a:r>
              <a:t>• أ. طراد محمد سمان: سكرتير تنفيذي.</a:t>
            </a:r>
            <a:br/>
            <a:r>
              <a:t>• أ. محمد الحسن بشير: محاسب قانوني متعاون.</a:t>
            </a:r>
            <a:br/>
            <a:r>
              <a:t>• أ. فيصل الجهني: مسؤول علاقات عامة وإعلام (متعاون).</a:t>
            </a:r>
            <a:br/>
            <a:br/>
            <a:r>
              <a:t>• نسبة التوطين (السعودة): ١٠٠٪ في كافة المناصب الرسمية.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B1D3A"/>
                </a:solidFill>
                <a:latin typeface="Arial"/>
              </a:defRPr>
            </a:pPr>
            <a:r>
              <a:t>مؤشرات التأهيل والتدريب والتطوع:</a:t>
            </a:r>
          </a:p>
          <a:p>
            <a:br/>
            <a:pPr>
              <a:defRPr sz="1100">
                <a:solidFill>
                  <a:srgbClr val="2D2D2D"/>
                </a:solidFill>
                <a:latin typeface="Arial"/>
              </a:defRPr>
            </a:pPr>
            <a:r>
              <a:t>• ٨ دورات تدريبية متخصصة: استفاد منها موظفان بالكادر لرفع الكفاءة المالية والمؤسسية (مقابل ٠ دورات في ٢٠٢٥).</a:t>
            </a:r>
            <a:br/>
            <a:br/>
            <a:r>
              <a:t>• أنظمة الحضور والأرشفة: تطبيق نظام البصمة الإلكترونية وضبط الدوام والأرشفة الرقمية للوثائق.</a:t>
            </a:r>
            <a:br/>
            <a:br/>
            <a:r>
              <a:t>• مؤشر التطوع: تسجيل ٤ فرص تطوعية بالنصف الأول، مع التوصية بإعادة تفعيل التطوع الصحي التخصصي للوصول لمستهدف ٣,٠٠٠ ساعة تطوعية.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حالة المنح المقبولة، الطلبات قيد المتابعة، والاعتذارات لربطها بالحوكمة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تنمية الموارد ومسار المنح التمويلية (٢٧ جهة)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6B1D3A"/>
                </a:solidFill>
                <a:latin typeface="Arial"/>
              </a:defRPr>
            </a:pPr>
            <a:r>
              <a:t>منح مقبولة ومحققة (٤٠,٠٠٠ ريال)</a:t>
            </a:r>
          </a:p>
          <a:p>
            <a:br/>
            <a:pPr algn="r">
              <a:defRPr sz="1050">
                <a:solidFill>
                  <a:srgbClr val="2D2D2D"/>
                </a:solidFill>
                <a:latin typeface="Arial"/>
              </a:defRPr>
            </a:pPr>
            <a:r>
              <a:t>• مؤسسة إبراهيم العنقري: ٢٠,٠٠٠ ريال.</a:t>
            </a:r>
            <a:br/>
            <a:r>
              <a:t>• وقف الشيخ عبدالعزيز أبو زيد: ٢٠,٠٠٠ ريال.</a:t>
            </a:r>
            <a:br/>
            <a:r>
              <a:t>(تحققتا رغم عدم اكتمال الحوكمة والقوائم المالية حينها).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6B1D3A"/>
                </a:solidFill>
                <a:latin typeface="Arial"/>
              </a:defRPr>
            </a:pPr>
            <a:r>
              <a:t>طلبات قيد الدراسة والمتابعة (١١ جهة)</a:t>
            </a:r>
          </a:p>
          <a:p>
            <a:br/>
            <a:pPr algn="r">
              <a:defRPr sz="1050">
                <a:solidFill>
                  <a:srgbClr val="2D2D2D"/>
                </a:solidFill>
                <a:latin typeface="Arial"/>
              </a:defRPr>
            </a:pPr>
            <a:r>
              <a:t>• صندوق دعم الجمعيات (مشروع جودة حياة).</a:t>
            </a:r>
            <a:br/>
            <a:r>
              <a:t>• أوقاف الشيخ صالح الراجحي (دفء وغذاء).</a:t>
            </a:r>
            <a:br/>
            <a:r>
              <a:t>• بنك البلاد، بنك الرياض، و ٦ شركات لحجاج الداخل.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AF8F5"/>
          </a:solidFill>
          <a:ln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55448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6B1D3A"/>
                </a:solidFill>
                <a:latin typeface="Arial"/>
              </a:defRPr>
            </a:pPr>
            <a:r>
              <a:t>اعتذارات بسبب الموازنة أو الشروط (٨ جهات)</a:t>
            </a:r>
          </a:p>
          <a:p>
            <a:br/>
            <a:pPr algn="r">
              <a:defRPr sz="1050">
                <a:solidFill>
                  <a:srgbClr val="2D2D2D"/>
                </a:solidFill>
                <a:latin typeface="Arial"/>
              </a:defRPr>
            </a:pPr>
            <a:r>
              <a:t>• انتهاء الموازنات: مؤسسة الماجد، مؤسسة الشاوي، شركة طيبة للاستثمار.</a:t>
            </a:r>
            <a:br/>
            <a:r>
              <a:t>• اشتراط الحوكمة: أوقاف الضحيان، مؤسسة طلال، مؤسسة المهيدب.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C9A96E"/>
                </a:solidFill>
                <a:latin typeface="Arial"/>
              </a:defRPr>
            </a:pPr>
            <a:r>
              <a:t>أبرز الفجوات المرصودة بالتدقيق وحزمة الإجراءات التنفيذية للنصف الثاني</a:t>
            </a:r>
          </a:p>
          <a:p>
            <a:pPr algn="r">
              <a:defRPr sz="2100" b="1">
                <a:solidFill>
                  <a:srgbClr val="6B1D3A"/>
                </a:solidFill>
                <a:latin typeface="Arial"/>
              </a:defRPr>
            </a:pPr>
            <a:r>
              <a:t>تحليل الفجوات الاستراتيجية وخارطة طريق التصحيح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AF8F5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C62828"/>
                </a:solidFill>
                <a:latin typeface="Arial"/>
              </a:defRPr>
            </a:pPr>
            <a:r>
              <a:t>الفجوات الاستراتيجية المرصودة (Audit Gaps):</a:t>
            </a:r>
          </a:p>
          <a:p>
            <a:br/>
            <a:pPr>
              <a:defRPr sz="1050">
                <a:solidFill>
                  <a:srgbClr val="2D2D2D"/>
                </a:solidFill>
                <a:latin typeface="Arial"/>
              </a:defRPr>
            </a:pPr>
            <a:r>
              <a:t>١. فجوة أعداد المستفيدين: خدمة ٧ مرضى فقط مقابل مستهدف ٣٦ ألف لحصر الصرف بالجراحات باهظة التكلفة.</a:t>
            </a:r>
            <a:br/>
            <a:br/>
            <a:r>
              <a:t>٢. تشدد لائحة المساعدات: رفض ٦٦.٧٪ من الحالات مما عطل صرف موازنة العلاج (صرف ٢٠٨ ألف من ٧٥٠ ألف).</a:t>
            </a:r>
            <a:br/>
            <a:br/>
            <a:r>
              <a:t>٣. تركز الإيرادات: ٤٣٪ من الدخل من متبرع فردي واحد مع تدني نسبة نجاح المنح (٧.٤٪).</a:t>
            </a:r>
            <a:br/>
            <a:br/>
            <a:r>
              <a:t>٤. تراجع التطوع: ٤ فرص تطوعية فقط دون توثيق للساعات.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AF8F5"/>
          </a:solidFill>
          <a:ln>
            <a:solidFill>
              <a:srgbClr val="6B1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6B1D3A"/>
                </a:solidFill>
                <a:latin typeface="Arial"/>
              </a:defRPr>
            </a:pPr>
            <a:r>
              <a:t>خارطة طريق التصحيح للنصف الثاني (H2 2026):</a:t>
            </a:r>
          </a:p>
          <a:p>
            <a:br/>
            <a:pPr>
              <a:defRPr sz="1050">
                <a:solidFill>
                  <a:srgbClr val="2D2D2D"/>
                </a:solidFill>
                <a:latin typeface="Arial"/>
              </a:defRPr>
            </a:pPr>
            <a:r>
              <a:t>١. تعديل لائحة المساعدات فوراً: إدخال استثناءات إنسانية مرنة لرفع القبول وصرف المتبقي من الموازنة (٥٤١ ألف ر.س).</a:t>
            </a:r>
            <a:br/>
            <a:br/>
            <a:r>
              <a:t>٢. تشغيل برامج الاستشارات والفحوصات: إطلاق «استشارات» و «أطمئن» لخدمة آلاف المستفيدين بتكلفة منخفضة.</a:t>
            </a:r>
            <a:br/>
            <a:br/>
            <a:r>
              <a:t>٣. اعتماد موازنة الحوكمة ونوى: التعاقد مع الفريق الاستشاري (١٥-٢١ ألف ريال) لإنهاء الامتثال وفتح المنح الكبرى.</a:t>
            </a:r>
            <a:br/>
            <a:br/>
            <a:r>
              <a:t>٤. إطلاق «بطاقة طبيبي» وتوحيد الخطة: إصدار بطاقة مزايا صحية مع المستشفيات الشريكة ومواءمة الخطة الاستراتيجية.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0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9A96E"/>
                </a:solidFill>
                <a:latin typeface="Arial"/>
              </a:defRPr>
            </a:pPr>
            <a:r>
              <a:t>شكراً لثقتكم ودعمكم المستمر لرسالة جمعية طبيبي الأهلية</a:t>
            </a:r>
          </a:p>
          <a:p>
            <a:pPr algn="ctr">
              <a:defRPr sz="1600" i="1">
                <a:solidFill>
                  <a:srgbClr val="FFFFFF"/>
                </a:solidFill>
                <a:latin typeface="Arial"/>
              </a:defRPr>
            </a:pPr>
            <a:r>
              <a:t>«نسعى لمواصلة المسيرة نحو قطاع صحي غير ربحي مستدام ومؤثر في طيبة الطيبة»</a:t>
            </a:r>
          </a:p>
          <a:p>
            <a:br/>
            <a:br/>
            <a:pPr algn="ctr">
              <a:defRPr sz="1350">
                <a:solidFill>
                  <a:srgbClr val="C9A96E"/>
                </a:solidFill>
                <a:latin typeface="Arial"/>
              </a:defRPr>
            </a:pPr>
            <a:r>
              <a:t>هاتف: 00966555606347   |   البريد: tabibi2025med@gmail.com   |   الموقع: المدينة المنورة - حي الفتح</a:t>
            </a:r>
          </a:p>
          <a:p>
            <a:br/>
            <a:pPr algn="ctr">
              <a:defRPr sz="1150">
                <a:solidFill>
                  <a:srgbClr val="FFFFFF"/>
                </a:solidFill>
                <a:latin typeface="Arial"/>
              </a:defRPr>
            </a:pPr>
            <a:r>
              <a:t>المركز الوطني لتنمية القطاع غير الربحي - ترخيص رقم: (١٠٠٠٧٣٠٧٠٠)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