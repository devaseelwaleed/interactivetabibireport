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9A96E"/>
                </a:solidFill>
              </a:defRPr>
            </a:pPr>
            <a:r>
              <a:t>جمعية طبيبي الأهلية بالمدينة المنورة</a:t>
            </a:r>
          </a:p>
          <a:p>
            <a:pPr algn="ctr">
              <a:defRPr sz="3200" b="1">
                <a:solidFill>
                  <a:srgbClr val="6B1D3A"/>
                </a:solidFill>
              </a:defRPr>
            </a:pPr>
            <a:r>
              <a:t>التقرير النصف سنوي الشامل لعام ٢٠٢٦م</a:t>
            </a:r>
          </a:p>
          <a:p>
            <a:pPr algn="ctr">
              <a:defRPr sz="1600" b="1">
                <a:solidFill>
                  <a:srgbClr val="6B1D3A"/>
                </a:solidFill>
              </a:defRPr>
            </a:pPr>
            <a:r>
              <a:t>«مدعم بالتدقيق الأدائي ومطابقة مستهدفات الخطة الاستراتيجية والتشغيلية»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6B1D3A"/>
                </a:solidFill>
              </a:defRPr>
            </a:pPr>
            <a:r>
              <a:t>القيادة الرشيدة ومجلس الإدارة</a:t>
            </a:r>
          </a:p>
          <a:p>
            <a:pPr algn="r">
              <a:defRPr sz="1200">
                <a:solidFill>
                  <a:srgbClr val="C9A96E"/>
                </a:solidFill>
              </a:defRPr>
            </a:pPr>
            <a:r>
              <a:t>الالتزام بتوجيهات القيادة في تمكين القطاع الصحي غير الربحي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1D3A"/>
                </a:solidFill>
              </a:defRPr>
            </a:pPr>
            <a:r>
              <a:t>صاحب السمو الملكي الأمير محمد بن سلمان</a:t>
            </a:r>
          </a:p>
          <a:p>
            <a:pPr algn="ctr">
              <a:defRPr sz="1100">
                <a:solidFill>
                  <a:srgbClr val="C9A96E"/>
                </a:solidFill>
              </a:defRPr>
            </a:pPr>
            <a:r>
              <a:t>ولي العهد رئيس مجلس الوزراء</a:t>
            </a:r>
          </a:p>
          <a:p>
            <a:br/>
            <a:pPr algn="r">
              <a:defRPr sz="1100" i="1">
                <a:solidFill>
                  <a:srgbClr val="2D2D2D"/>
                </a:solidFill>
              </a:defRPr>
            </a:pPr>
            <a:r>
              <a:t>«نهدف للوصول إلى قطاع غير ربحي مهم، مبادر وداعم ومؤثر في التعليم والصحة.»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6304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1D3A"/>
                </a:solidFill>
              </a:defRPr>
            </a:pPr>
            <a:r>
              <a:t>خادم الحرمين الشريفين الملك سلمان بن عبدالعزيز</a:t>
            </a:r>
          </a:p>
          <a:p>
            <a:pPr algn="ctr">
              <a:defRPr sz="1100">
                <a:solidFill>
                  <a:srgbClr val="C9A96E"/>
                </a:solidFill>
              </a:defRPr>
            </a:pPr>
            <a:r>
              <a:t>ملك المملكة العربية السعودية</a:t>
            </a:r>
          </a:p>
          <a:p>
            <a:br/>
            <a:pPr algn="r">
              <a:defRPr sz="1100" i="1">
                <a:solidFill>
                  <a:srgbClr val="2D2D2D"/>
                </a:solidFill>
              </a:defRPr>
            </a:pPr>
            <a:r>
              <a:t>«ما يميز هذه البلاد هو حرص قادتها على الخير والتشجيع عليه ومؤسساتها الخيرية.»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46304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1D3A"/>
                </a:solidFill>
              </a:defRPr>
            </a:pPr>
            <a:r>
              <a:t>صاحب السمو الملكي الأمير سلمان بن سلطان</a:t>
            </a:r>
          </a:p>
          <a:p>
            <a:pPr algn="ctr">
              <a:defRPr sz="1100">
                <a:solidFill>
                  <a:srgbClr val="C9A96E"/>
                </a:solidFill>
              </a:defRPr>
            </a:pPr>
            <a:r>
              <a:t>أمير منطقة المدينة المنورة</a:t>
            </a:r>
          </a:p>
          <a:p>
            <a:br/>
            <a:pPr algn="r">
              <a:defRPr sz="1100" i="1">
                <a:solidFill>
                  <a:srgbClr val="2D2D2D"/>
                </a:solidFill>
              </a:defRPr>
            </a:pPr>
            <a:r>
              <a:t>«نسعد بالإنجازات التي حققتها الجمعيات الأهلية كشريك استراتيجي في جودة الحياة.»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6B1D3A"/>
                </a:solidFill>
              </a:defRPr>
            </a:pPr>
            <a:r>
              <a:t>التدقيق الأدائي والتقييم الاستراتيجي الشامل (BSC)</a:t>
            </a:r>
          </a:p>
          <a:p>
            <a:pPr algn="r">
              <a:defRPr sz="1200">
                <a:solidFill>
                  <a:srgbClr val="C9A96E"/>
                </a:solidFill>
              </a:defRPr>
            </a:pPr>
            <a:r>
              <a:t>نتائج تقييم النصف الأول ٢٠٢٦م وفق مناظير بطاقة الأداء المتوازن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1D3A"/>
                </a:solidFill>
              </a:defRPr>
            </a:pPr>
            <a:r>
              <a:t>محور الأثر والبرامج الطبية (٤٠٪)</a:t>
            </a:r>
          </a:p>
          <a:p>
            <a:pPr algn="ctr">
              <a:defRPr sz="2800" b="1">
                <a:solidFill>
                  <a:srgbClr val="6B1D3A"/>
                </a:solidFill>
              </a:defRPr>
            </a:pPr>
            <a:r>
              <a:t>١٣.٩٥٪</a:t>
            </a:r>
          </a:p>
          <a:p>
            <a:pPr algn="ctr">
              <a:defRPr sz="1000">
                <a:solidFill>
                  <a:srgbClr val="2D2D2D"/>
                </a:solidFill>
              </a:defRPr>
            </a:pPr>
            <a:r>
              <a:t>٥.٥٨ من ٤٠ نقطة | خدمة ٧ مرضى من أصل ٣٦ ألف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4630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1D3A"/>
                </a:solidFill>
              </a:defRPr>
            </a:pPr>
            <a:r>
              <a:t>المحور المالي والموازنة (٣٠٪)</a:t>
            </a:r>
          </a:p>
          <a:p>
            <a:pPr algn="ctr">
              <a:defRPr sz="2800" b="1">
                <a:solidFill>
                  <a:srgbClr val="6B1D3A"/>
                </a:solidFill>
              </a:defRPr>
            </a:pPr>
            <a:r>
              <a:t>٣٢.٩٦٪</a:t>
            </a:r>
          </a:p>
          <a:p>
            <a:pPr algn="ctr">
              <a:defRPr sz="1000">
                <a:solidFill>
                  <a:srgbClr val="2D2D2D"/>
                </a:solidFill>
              </a:defRPr>
            </a:pPr>
            <a:r>
              <a:t>٩.٨٩ من ٣٠ نقطة | تحصيل ٥٨٢ ألف ر.س (+١٩٢٪)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1D3A"/>
                </a:solidFill>
              </a:defRPr>
            </a:pPr>
            <a:r>
              <a:t>محور الشراكات والعمليات (١٥٪)</a:t>
            </a:r>
          </a:p>
          <a:p>
            <a:pPr algn="ctr">
              <a:defRPr sz="2800" b="1">
                <a:solidFill>
                  <a:srgbClr val="6B1D3A"/>
                </a:solidFill>
              </a:defRPr>
            </a:pPr>
            <a:r>
              <a:t>٥٥.٠٠٪</a:t>
            </a:r>
          </a:p>
          <a:p>
            <a:pPr algn="ctr">
              <a:defRPr sz="1000">
                <a:solidFill>
                  <a:srgbClr val="2D2D2D"/>
                </a:solidFill>
              </a:defRPr>
            </a:pPr>
            <a:r>
              <a:t>٨.٢٥ من ١٥ نقطة | ٩ شراكات مستشفيات فاعلة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1D3A"/>
                </a:solidFill>
              </a:defRPr>
            </a:pPr>
            <a:r>
              <a:t>محور الحوكمة والمؤسسية (١٥٪)</a:t>
            </a:r>
          </a:p>
          <a:p>
            <a:pPr algn="ctr">
              <a:defRPr sz="2800" b="1">
                <a:solidFill>
                  <a:srgbClr val="6B1D3A"/>
                </a:solidFill>
              </a:defRPr>
            </a:pPr>
            <a:r>
              <a:t>٦٠.٠٠٪</a:t>
            </a:r>
          </a:p>
          <a:p>
            <a:pPr algn="ctr">
              <a:defRPr sz="1000">
                <a:solidFill>
                  <a:srgbClr val="2D2D2D"/>
                </a:solidFill>
              </a:defRPr>
            </a:pPr>
            <a:r>
              <a:t>٩.٠٠ من ١٥ نقطة | ١٠٠٪ توطين وتطبيق قيود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B1D3A"/>
                </a:solidFill>
              </a:defRPr>
            </a:pPr>
            <a:r>
              <a:t>نسبة الإنجاز الاستراتيجي الإجمالية الموزونة: ٣٢.٧٢٪ | التقييم العام: يحتاج إلى تحسين جذري وإعادة ضبط مسار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6B1D3A"/>
                </a:solidFill>
              </a:defRPr>
            </a:pPr>
            <a:r>
              <a:t>مصفوفة مطابقة الخطة الاستراتيجية بالمنجز الفعلي</a:t>
            </a:r>
          </a:p>
          <a:p>
            <a:pPr algn="r">
              <a:defRPr sz="1200">
                <a:solidFill>
                  <a:srgbClr val="C9A96E"/>
                </a:solidFill>
              </a:defRPr>
            </a:pPr>
            <a:r>
              <a:t>مقارنة أبرز المؤشرات المعتمدة لعام ٢٠٢٦م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المؤشر المعتمد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المستهدف السنوي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مستهدف H1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المنجز الفعلي H1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نسبة الإنجاز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الحالة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إجمالي الإيرادات الكلية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٦,٨٤٦,٠٠٠ ر.س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٣,٤٢٣,٠٠٠ ر.س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٥٨٢,١٦٧ ر.س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١٧.٠١٪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متأخر حرِج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المساعدات العلاجية المباشرة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١,٥٠٠,٠٠٠ ر.س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٧٥٠,٠٠٠ ر.س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٢٠٨,٦٠٥ ر.س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٢٧.٨١٪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متأخر حرِج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عدد المستفيدين المخدومين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٣٦,٦٠٦ مستفيد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١٨,٣٠٣ مستفيد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٧ مستفيدين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٠.٠٣٨٪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متعثر تماماً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الاستشارات الطبية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١,٢٠٠ استشارة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٦٠٠ استشارة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٠ استشارة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٠.٠٠٪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لم يبدأ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الشراكات الصحية الفاعلة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٩ شراكات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٩ شراكات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٩ شراكات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١٠٠.٠٠٪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مكتمل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توطين الكادر البشري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١٠٠٪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١٠٠٪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١٠٠٪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١٠٠.٠٠٪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مكتمل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6B1D3A"/>
                </a:solidFill>
              </a:defRPr>
            </a:pPr>
            <a:r>
              <a:t>تحليل الفجوات الاستراتيجية وإدارة المخاطر</a:t>
            </a:r>
          </a:p>
          <a:p>
            <a:pPr algn="r">
              <a:defRPr sz="1200">
                <a:solidFill>
                  <a:srgbClr val="C9A96E"/>
                </a:solidFill>
              </a:defRPr>
            </a:pPr>
            <a:r>
              <a:t>أبرز التحديات ونقاط الضعف المرصودة بالتدقيق الأدائي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</a:defRPr>
            </a:pPr>
            <a:r>
              <a:t>١. انحسار نطاق المستفيدين</a:t>
            </a:r>
          </a:p>
          <a:p>
            <a:pPr algn="r">
              <a:defRPr sz="1100">
                <a:solidFill>
                  <a:srgbClr val="2D2D2D"/>
                </a:solidFill>
              </a:defRPr>
            </a:pPr>
            <a:r>
              <a:t>خدمة ٧ مرضى فقط من أصل ٣٦,٦٠٦ مستهدفين (-٩٩.٩٦٪ فجوة) بسبب حصر الصرف في الجراحات المعقدة وإيقاف العيادات الوقائية.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</a:defRPr>
            </a:pPr>
            <a:r>
              <a:t>٢. تشدد لائحة المساعدات</a:t>
            </a:r>
          </a:p>
          <a:p>
            <a:pPr algn="r">
              <a:defRPr sz="1100">
                <a:solidFill>
                  <a:srgbClr val="2D2D2D"/>
                </a:solidFill>
              </a:defRPr>
            </a:pPr>
            <a:r>
              <a:t>رفض ٦٦.٧٪ من الحالات المتقدمة (١٤ حالة) مما تسبب في عجز صرف موازنة العلاج (صرف ٢٠٨ ألف من ٧٥٠ ألف مخصصة).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</a:defRPr>
            </a:pPr>
            <a:r>
              <a:t>٣. مخاطر تركز الإيرادات</a:t>
            </a:r>
          </a:p>
          <a:p>
            <a:pPr algn="r">
              <a:defRPr sz="1100">
                <a:solidFill>
                  <a:srgbClr val="2D2D2D"/>
                </a:solidFill>
              </a:defRPr>
            </a:pPr>
            <a:r>
              <a:t>اعتماد بنسبة ٤٣٪ على متبرع فرد واحد (٢٥٠ ألف ريال) وتدني نسبة نجاح طلبات المنح إلى ٧.٤٪ فقط.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9319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</a:defRPr>
            </a:pPr>
            <a:r>
              <a:t>٤. تراجع النشاط التطوعي</a:t>
            </a:r>
          </a:p>
          <a:p>
            <a:pPr algn="r">
              <a:defRPr sz="1100">
                <a:solidFill>
                  <a:srgbClr val="2D2D2D"/>
                </a:solidFill>
              </a:defRPr>
            </a:pPr>
            <a:r>
              <a:t>تنفيذ ٤ فرص تطوعية فقط دون توثيق للساعات مقابل مستهدف ٣,٠٠٠ ساعة بقيمة ٢٠٢.٥ ألف ريال.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6B1D3A"/>
                </a:solidFill>
              </a:defRPr>
            </a:pPr>
            <a:r>
              <a:t>خارطة طريق التصحيح والتوصيات الاستراتيجية (H2 2026)</a:t>
            </a:r>
          </a:p>
          <a:p>
            <a:pPr algn="r">
              <a:defRPr sz="1200">
                <a:solidFill>
                  <a:srgbClr val="C9A96E"/>
                </a:solidFill>
              </a:defRPr>
            </a:pPr>
            <a:r>
              <a:t>حزمة الإجراءات التصحيحية لاستعادة الأثر وتحقيق الاستدامة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</a:defRPr>
            </a:pPr>
            <a:r>
              <a:t>١. تعديل لائحة المساعدات فوراً</a:t>
            </a:r>
          </a:p>
          <a:p>
            <a:pPr algn="r">
              <a:defRPr sz="1100">
                <a:solidFill>
                  <a:srgbClr val="2D2D2D"/>
                </a:solidFill>
              </a:defRPr>
            </a:pPr>
            <a:r>
              <a:t>وضع استثناءات إنسانية مرنة لرفع نسبة قبول الحالات وصرف المتبقي من الموازنة (٥٤١ ألف ريال).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</a:defRPr>
            </a:pPr>
            <a:r>
              <a:t>٢. تشغيل برامج الاستشارات والفحوصات</a:t>
            </a:r>
          </a:p>
          <a:p>
            <a:pPr algn="r">
              <a:defRPr sz="1100">
                <a:solidFill>
                  <a:srgbClr val="2D2D2D"/>
                </a:solidFill>
              </a:defRPr>
            </a:pPr>
            <a:r>
              <a:t>إطلاق الاستشارات الهاتفية والقوافل الميدانية لخدمة آلاف المستفيدين بتكلفة تشغيلية منخفضة.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</a:defRPr>
            </a:pPr>
            <a:r>
              <a:t>٣. اعتماد موازنة الحوكمة ومنصة نوى</a:t>
            </a:r>
          </a:p>
          <a:p>
            <a:pPr algn="r">
              <a:defRPr sz="1100">
                <a:solidFill>
                  <a:srgbClr val="2D2D2D"/>
                </a:solidFill>
              </a:defRPr>
            </a:pPr>
            <a:r>
              <a:t>التعاقد مع الفريق الاستشاري (١٥-٢١ ألف ريال) لإنهاء متطلبات الامتثال وفتح المنح الكبرى.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9319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</a:defRPr>
            </a:pPr>
            <a:r>
              <a:t>٤. إطلاق «بطاقة طبيبي» وتوحيد الخطة</a:t>
            </a:r>
          </a:p>
          <a:p>
            <a:pPr algn="r">
              <a:defRPr sz="1100">
                <a:solidFill>
                  <a:srgbClr val="2D2D2D"/>
                </a:solidFill>
              </a:defRPr>
            </a:pPr>
            <a:r>
              <a:t>استثمار شبكة المستشفيات لإصدار بطاقة مزايا صحية ومواءمة مستهدفات الخطة الاستراتيجية.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