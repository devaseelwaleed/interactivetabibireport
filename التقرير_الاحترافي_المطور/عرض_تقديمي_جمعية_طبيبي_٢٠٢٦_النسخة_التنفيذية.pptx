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DFCA9B"/>
                </a:solidFill>
                <a:latin typeface="Cairo"/>
              </a:rPr>
              <a:t>جمعية طبيبي الأهلية بالمدينة المنورة
</a:t>
            </a:r>
          </a:p>
          <a:p>
            <a:pPr algn="ctr"/>
            <a:r>
              <a:rPr sz="3400" b="1">
                <a:solidFill>
                  <a:srgbClr val="FFFFFF"/>
                </a:solidFill>
                <a:latin typeface="Cairo"/>
              </a:rPr>
              <a:t>التقرير النصف سنوي الشامل لعام ٢٠٢٦م
</a:t>
            </a:r>
          </a:p>
          <a:p>
            <a:pPr algn="ctr"/>
            <a:r>
              <a:rPr sz="1600">
                <a:solidFill>
                  <a:srgbClr val="C9A96E"/>
                </a:solidFill>
                <a:latin typeface="Cairo"/>
              </a:rPr>
              <a:t>الفترة من ١ يناير حتى ٣٠ يونيو ٢٠٢٦م  |  « ثـقـة  •  أثــر  •  اسـتـدامـة »
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8C8C8"/>
                </a:solidFill>
                <a:latin typeface="Cairo"/>
              </a:rPr>
              <a:t>ترخيص المركز الوطني لتنمية القطاع غير الربحي رقم: (١٠٠٠٧٣٠٧٠٠) | إشراف: أ. بيان بن سعد المحمدي - المدير التنفيذي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A68547"/>
                </a:solidFill>
                <a:latin typeface="Cairo"/>
              </a:rPr>
              <a:t>الرؤية والتمكين</a:t>
            </a:r>
          </a:p>
          <a:p>
            <a:pPr algn="r"/>
            <a:r>
              <a:rPr sz="2200" b="1">
                <a:solidFill>
                  <a:srgbClr val="541228"/>
                </a:solidFill>
                <a:latin typeface="Cairo"/>
              </a:rPr>
              <a:t>القيادة الرشيدة والرؤية الوطنية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2E0B17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ng_sal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645920"/>
            <a:ext cx="137160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8328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Cairo"/>
              </a:rPr>
              <a:t>خادم الحرمين الشريفين
الملك سلمان بن عبدالعزيز آل سعود
</a:t>
            </a:r>
          </a:p>
          <a:p>
            <a:pPr algn="r"/>
            <a:r>
              <a:rPr sz="950" i="1">
                <a:solidFill>
                  <a:srgbClr val="FFFFFF"/>
                </a:solidFill>
                <a:latin typeface="Cairo"/>
              </a:rPr>
              <a:t>«ما يميز هذه البلاد هو حرص قادتها على الخير والتشجيع عليه، وما نراه من مؤسسات خيرية في مختلف المجالات… إلا جانبًا من الجوانب المشرقة لبلادنا.»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2E0B17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wn_pri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137160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26280" y="338328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Cairo"/>
              </a:rPr>
              <a:t>صاحب السمو الملكي
الأمير محمد بن سلمان بن عبدالعزيز
</a:t>
            </a:r>
          </a:p>
          <a:p>
            <a:pPr algn="r"/>
            <a:r>
              <a:rPr sz="950" i="1">
                <a:solidFill>
                  <a:srgbClr val="FFFFFF"/>
                </a:solidFill>
                <a:latin typeface="Cairo"/>
              </a:rPr>
              <a:t>«نهدف للوصول إلى قطاع غير ربحي مهم، مبادر وداعم ومؤثر في التعليم والصحة والثقافة والمجالات البحثية، وسنعتمد عليه بشكل رئيسي.»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2E0B17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ince_salm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645920"/>
            <a:ext cx="137160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338328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Cairo"/>
              </a:rPr>
              <a:t>صاحب السمو الملكي
الأمير سلمان بن سلطان بن عبدالعزيز
</a:t>
            </a:r>
          </a:p>
          <a:p>
            <a:pPr algn="r"/>
            <a:r>
              <a:rPr sz="950" i="1">
                <a:solidFill>
                  <a:srgbClr val="FFFFFF"/>
                </a:solidFill>
                <a:latin typeface="Cairo"/>
              </a:rPr>
              <a:t>«نسعد بالإنجازات التي حققتها الجمعيات الأهلية على مستوى المنطقة باعتبارها شريكًا استراتيجيًا للقطاعين العام والخاص في تحسين جودة الحياة وتعزيز الاستقرار.»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A68547"/>
                </a:solidFill>
                <a:latin typeface="Cairo"/>
              </a:rPr>
              <a:t>لوحة التحكم</a:t>
            </a:r>
          </a:p>
          <a:p>
            <a:pPr algn="r"/>
            <a:r>
              <a:rPr sz="2200" b="1">
                <a:solidFill>
                  <a:srgbClr val="541228"/>
                </a:solidFill>
                <a:latin typeface="Cairo"/>
              </a:rPr>
              <a:t>مصفوفة مؤشرات الأداء الرئيسية (KPIs Dashboard)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864"/>
                </a:solidFill>
                <a:latin typeface="Cairo"/>
              </a:rPr>
              <a:t>نمو الإيرادات</a:t>
            </a:r>
          </a:p>
          <a:p>
            <a:pPr algn="r"/>
            <a:r>
              <a:rPr sz="2200" b="1">
                <a:solidFill>
                  <a:srgbClr val="1E824C"/>
                </a:solidFill>
                <a:latin typeface="Cairo"/>
              </a:rPr>
              <a:t>+١٩٢٪</a:t>
            </a:r>
          </a:p>
          <a:p>
            <a:pPr algn="r"/>
            <a:r>
              <a:rPr sz="950">
                <a:solidFill>
                  <a:srgbClr val="242220"/>
                </a:solidFill>
                <a:latin typeface="Cairo"/>
              </a:rPr>
              <a:t>٥٨٢,١٦٧ ريال مقابل ١٩٩ ألف في ٢٠٢٥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864"/>
                </a:solidFill>
                <a:latin typeface="Cairo"/>
              </a:rPr>
              <a:t>المساعدات الطبية</a:t>
            </a:r>
          </a:p>
          <a:p>
            <a:pPr algn="r"/>
            <a:r>
              <a:rPr sz="2200" b="1">
                <a:solidFill>
                  <a:srgbClr val="1E824C"/>
                </a:solidFill>
                <a:latin typeface="Cairo"/>
              </a:rPr>
              <a:t>+٩٤٣٪</a:t>
            </a:r>
          </a:p>
          <a:p>
            <a:pPr algn="r"/>
            <a:r>
              <a:rPr sz="950">
                <a:solidFill>
                  <a:srgbClr val="242220"/>
                </a:solidFill>
                <a:latin typeface="Cairo"/>
              </a:rPr>
              <a:t>٢٠٨,٦٠٥ ريال لـ ٧ حالات حرجة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864"/>
                </a:solidFill>
                <a:latin typeface="Cairo"/>
              </a:rPr>
              <a:t>تنفيذ الموازنة</a:t>
            </a:r>
          </a:p>
          <a:p>
            <a:pPr algn="r"/>
            <a:r>
              <a:rPr sz="2200" b="1">
                <a:solidFill>
                  <a:srgbClr val="D9822B"/>
                </a:solidFill>
                <a:latin typeface="Cairo"/>
              </a:rPr>
              <a:t>٣٥.٥٧٪</a:t>
            </a:r>
          </a:p>
          <a:p>
            <a:pPr algn="r"/>
            <a:r>
              <a:rPr sz="950">
                <a:solidFill>
                  <a:srgbClr val="242220"/>
                </a:solidFill>
                <a:latin typeface="Cairo"/>
              </a:rPr>
              <a:t>١,٠٦٠,٦٦٦ من ٢,٩٨١,٧٥٠ ريال معتمد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783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864"/>
                </a:solidFill>
                <a:latin typeface="Cairo"/>
              </a:rPr>
              <a:t>الاحتياطي النقدي</a:t>
            </a:r>
          </a:p>
          <a:p>
            <a:pPr algn="r"/>
            <a:r>
              <a:rPr sz="2200" b="1">
                <a:solidFill>
                  <a:srgbClr val="1E824C"/>
                </a:solidFill>
                <a:latin typeface="Cairo"/>
              </a:rPr>
              <a:t>١٢ شهراً</a:t>
            </a:r>
          </a:p>
          <a:p>
            <a:pPr algn="r"/>
            <a:r>
              <a:rPr sz="950">
                <a:solidFill>
                  <a:srgbClr val="242220"/>
                </a:solidFill>
                <a:latin typeface="Cairo"/>
              </a:rPr>
              <a:t>أرصدة ١,٠٠١,٧٥٤ ريال تغطي التشغيل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864"/>
                </a:solidFill>
                <a:latin typeface="Cairo"/>
              </a:rPr>
              <a:t>نسبة التوطين</a:t>
            </a:r>
          </a:p>
          <a:p>
            <a:pPr algn="r"/>
            <a:r>
              <a:rPr sz="2200" b="1">
                <a:solidFill>
                  <a:srgbClr val="1E824C"/>
                </a:solidFill>
                <a:latin typeface="Cairo"/>
              </a:rPr>
              <a:t>١٠٠٪</a:t>
            </a:r>
          </a:p>
          <a:p>
            <a:pPr algn="r"/>
            <a:r>
              <a:rPr sz="950">
                <a:solidFill>
                  <a:srgbClr val="242220"/>
                </a:solidFill>
                <a:latin typeface="Cairo"/>
              </a:rPr>
              <a:t>٣ موظفين رسميين + محاسب متعاون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931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069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864"/>
                </a:solidFill>
                <a:latin typeface="Cairo"/>
              </a:rPr>
              <a:t>قبول الحالات</a:t>
            </a:r>
          </a:p>
          <a:p>
            <a:pPr algn="r"/>
            <a:r>
              <a:rPr sz="2200" b="1">
                <a:solidFill>
                  <a:srgbClr val="D9822B"/>
                </a:solidFill>
                <a:latin typeface="Cairo"/>
              </a:rPr>
              <a:t>٣٣.٣٪</a:t>
            </a:r>
          </a:p>
          <a:p>
            <a:pPr algn="r"/>
            <a:r>
              <a:rPr sz="950">
                <a:solidFill>
                  <a:srgbClr val="242220"/>
                </a:solidFill>
                <a:latin typeface="Cairo"/>
              </a:rPr>
              <a:t>٧ حالات مقبولة من أصل ٢١ متقدمة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069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864"/>
                </a:solidFill>
                <a:latin typeface="Cairo"/>
              </a:rPr>
              <a:t>متوسط كلفة المريض</a:t>
            </a:r>
          </a:p>
          <a:p>
            <a:pPr algn="r"/>
            <a:r>
              <a:rPr sz="2200" b="1">
                <a:solidFill>
                  <a:srgbClr val="541228"/>
                </a:solidFill>
                <a:latin typeface="Cairo"/>
              </a:rPr>
              <a:t>٢٩,٨٠١ ر.س</a:t>
            </a:r>
          </a:p>
          <a:p>
            <a:pPr algn="r"/>
            <a:r>
              <a:rPr sz="950">
                <a:solidFill>
                  <a:srgbClr val="242220"/>
                </a:solidFill>
                <a:latin typeface="Cairo"/>
              </a:rPr>
              <a:t>تغطية جراحات وأورام معقدة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393192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4069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B6864"/>
                </a:solidFill>
                <a:latin typeface="Cairo"/>
              </a:rPr>
              <a:t>نسبة تحسن الحالات</a:t>
            </a:r>
          </a:p>
          <a:p>
            <a:pPr algn="r"/>
            <a:r>
              <a:rPr sz="2200" b="1">
                <a:solidFill>
                  <a:srgbClr val="1E824C"/>
                </a:solidFill>
                <a:latin typeface="Cairo"/>
              </a:rPr>
              <a:t>١٠٠٪</a:t>
            </a:r>
          </a:p>
          <a:p>
            <a:pPr algn="r"/>
            <a:r>
              <a:rPr sz="950">
                <a:solidFill>
                  <a:srgbClr val="242220"/>
                </a:solidFill>
                <a:latin typeface="Cairo"/>
              </a:rPr>
              <a:t>تحسن كامل لكافة المرضى المدعومين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9A96E"/>
                </a:solidFill>
                <a:latin typeface="Cairo"/>
              </a:rPr>
              <a:t>شكراً لثقتكم ودعمكم المستمر لرسالة جمعية طبيبي الأهلية
</a:t>
            </a:r>
          </a:p>
          <a:p>
            <a:pPr algn="ctr"/>
            <a:r>
              <a:rPr sz="1200">
                <a:solidFill>
                  <a:srgbClr val="DFCA9B"/>
                </a:solidFill>
                <a:latin typeface="Cairo"/>
              </a:rPr>
              <a:t>هاتف: (00966555606347)  |  البريد: (tabibi2025med@gmail.com)  |  المدينة المنورة - حي الفتح
المركز الوطني لتنمية القطاع غير الربحي - ترخيص: (١٠٠٠٧٣٠٧٠٠)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